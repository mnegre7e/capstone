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LQ0slHKBA8YMiXP5vncGW86Ka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7" name="Google Shape;127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29" name="Google Shape;129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1" name="Google Shape;191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93" name="Google Shape;193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6" name="Google Shape;22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7" name="Google Shape;227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29" name="Google Shape;22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5" name="Google Shape;265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6" name="Google Shape;266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68" name="Google Shape;268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9" name="Google Shape;269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8" name="Google Shape;338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9" name="Google Shape;339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41" name="Google Shape;341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2" name="Google Shape;342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3" name="Google Shape;423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4" name="Google Shape;424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426" name="Google Shape;426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7" name="Google Shape;427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1" name="Google Shape;461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2" name="Google Shape;462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64" name="Google Shape;464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5" name="Google Shape;465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4" name="Google Shape;53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35" name="Google Shape;53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537" name="Google Shape;53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8" name="Google Shape;53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1" name="Google Shape;631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2" name="Google Shape;632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634" name="Google Shape;634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5" name="Google Shape;635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0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234440" y="1028700"/>
            <a:ext cx="301752" cy="301752"/>
          </a:xfrm>
          <a:custGeom>
            <a:rect b="b" l="l" r="r" t="t"/>
            <a:pathLst>
              <a:path extrusionOk="0" h="402336" w="402336">
                <a:moveTo>
                  <a:pt x="0" y="201168"/>
                </a:moveTo>
                <a:cubicBezTo>
                  <a:pt x="0" y="90043"/>
                  <a:pt x="90043" y="0"/>
                  <a:pt x="201168" y="0"/>
                </a:cubicBezTo>
                <a:cubicBezTo>
                  <a:pt x="312293" y="0"/>
                  <a:pt x="402336" y="90043"/>
                  <a:pt x="402336" y="201168"/>
                </a:cubicBezTo>
                <a:cubicBezTo>
                  <a:pt x="402336" y="312293"/>
                  <a:pt x="312293" y="402336"/>
                  <a:pt x="201168" y="402336"/>
                </a:cubicBezTo>
                <a:cubicBezTo>
                  <a:pt x="90043" y="402336"/>
                  <a:pt x="0" y="312293"/>
                  <a:pt x="0" y="201168"/>
                </a:cubicBezTo>
                <a:close/>
              </a:path>
            </a:pathLst>
          </a:cu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714500" y="1028700"/>
            <a:ext cx="301752" cy="301752"/>
          </a:xfrm>
          <a:custGeom>
            <a:rect b="b" l="l" r="r" t="t"/>
            <a:pathLst>
              <a:path extrusionOk="0" h="402336" w="402336">
                <a:moveTo>
                  <a:pt x="0" y="201168"/>
                </a:moveTo>
                <a:cubicBezTo>
                  <a:pt x="0" y="90043"/>
                  <a:pt x="90043" y="0"/>
                  <a:pt x="201168" y="0"/>
                </a:cubicBezTo>
                <a:cubicBezTo>
                  <a:pt x="312293" y="0"/>
                  <a:pt x="402336" y="90043"/>
                  <a:pt x="402336" y="201168"/>
                </a:cubicBezTo>
                <a:cubicBezTo>
                  <a:pt x="402336" y="312293"/>
                  <a:pt x="312293" y="402336"/>
                  <a:pt x="201168" y="402336"/>
                </a:cubicBezTo>
                <a:cubicBezTo>
                  <a:pt x="90043" y="402336"/>
                  <a:pt x="0" y="312293"/>
                  <a:pt x="0" y="201168"/>
                </a:cubicBezTo>
                <a:close/>
              </a:path>
            </a:pathLst>
          </a:custGeom>
          <a:solidFill>
            <a:srgbClr val="F4A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2194560" y="1028700"/>
            <a:ext cx="301752" cy="301752"/>
          </a:xfrm>
          <a:custGeom>
            <a:rect b="b" l="l" r="r" t="t"/>
            <a:pathLst>
              <a:path extrusionOk="0" h="402336" w="402336">
                <a:moveTo>
                  <a:pt x="0" y="201168"/>
                </a:moveTo>
                <a:cubicBezTo>
                  <a:pt x="0" y="90043"/>
                  <a:pt x="90043" y="0"/>
                  <a:pt x="201168" y="0"/>
                </a:cubicBezTo>
                <a:cubicBezTo>
                  <a:pt x="312293" y="0"/>
                  <a:pt x="402336" y="90043"/>
                  <a:pt x="402336" y="201168"/>
                </a:cubicBezTo>
                <a:cubicBezTo>
                  <a:pt x="402336" y="312293"/>
                  <a:pt x="312293" y="402336"/>
                  <a:pt x="201168" y="402336"/>
                </a:cubicBezTo>
                <a:cubicBezTo>
                  <a:pt x="90043" y="402336"/>
                  <a:pt x="0" y="312293"/>
                  <a:pt x="0" y="201168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"/>
          <p:cNvGrpSpPr/>
          <p:nvPr/>
        </p:nvGrpSpPr>
        <p:grpSpPr>
          <a:xfrm>
            <a:off x="1234440" y="1678781"/>
            <a:ext cx="10972800" cy="584359"/>
            <a:chOff x="0" y="-47625"/>
            <a:chExt cx="14630400" cy="779145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4630400" cy="731520"/>
            </a:xfrm>
            <a:custGeom>
              <a:rect b="b" l="l" r="r" t="t"/>
              <a:pathLst>
                <a:path extrusionOk="0"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97" name="Google Shape;97;p1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PROYECTO APT · CAPSTONE</a:t>
              </a:r>
              <a:endParaRPr/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165860" y="2317432"/>
            <a:ext cx="14401800" cy="1797368"/>
            <a:chOff x="0" y="-19050"/>
            <a:chExt cx="19202400" cy="239649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9202400" cy="2377440"/>
            </a:xfrm>
            <a:custGeom>
              <a:rect b="b" l="l" r="r" t="t"/>
              <a:pathLst>
                <a:path extrusionOk="0" h="23774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7381" l="0" r="0" t="-107381"/>
              </a:stretch>
            </a:blipFill>
            <a:ln>
              <a:noFill/>
            </a:ln>
          </p:spPr>
        </p:sp>
        <p:sp>
          <p:nvSpPr>
            <p:cNvPr id="100" name="Google Shape;100;p1"/>
            <p:cNvSpPr txBox="1"/>
            <p:nvPr/>
          </p:nvSpPr>
          <p:spPr>
            <a:xfrm>
              <a:off x="0" y="-19050"/>
              <a:ext cx="19202400" cy="239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1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HouseGreen</a:t>
              </a:r>
              <a:endParaRPr/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234440" y="3859054"/>
            <a:ext cx="14401800" cy="872966"/>
            <a:chOff x="0" y="-66675"/>
            <a:chExt cx="19202400" cy="1163955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19202400" cy="1097280"/>
            </a:xfrm>
            <a:custGeom>
              <a:rect b="b" l="l" r="r" t="t"/>
              <a:pathLst>
                <a:path extrusionOk="0"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0971" l="0" r="0" t="-290971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0" y="-66675"/>
              <a:ext cx="19202400" cy="1163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CFE8DC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Inteligencia Pre-Puja para Propiedades en Remate</a:t>
              </a:r>
              <a:endParaRPr/>
            </a:p>
          </p:txBody>
        </p:sp>
      </p:grpSp>
      <p:cxnSp>
        <p:nvCxnSpPr>
          <p:cNvPr id="104" name="Google Shape;104;p1"/>
          <p:cNvCxnSpPr/>
          <p:nvPr/>
        </p:nvCxnSpPr>
        <p:spPr>
          <a:xfrm rot="16980">
            <a:off x="1220114" y="4996815"/>
            <a:ext cx="5789362" cy="0"/>
          </a:xfrm>
          <a:prstGeom prst="straightConnector1">
            <a:avLst/>
          </a:prstGeom>
          <a:noFill/>
          <a:ln cap="rnd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" name="Google Shape;105;p1"/>
          <p:cNvGrpSpPr/>
          <p:nvPr/>
        </p:nvGrpSpPr>
        <p:grpSpPr>
          <a:xfrm>
            <a:off x="1234440" y="5244941"/>
            <a:ext cx="10972800" cy="652939"/>
            <a:chOff x="0" y="-47625"/>
            <a:chExt cx="14630400" cy="870585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14630400" cy="822960"/>
            </a:xfrm>
            <a:custGeom>
              <a:rect b="b" l="l" r="r" t="t"/>
              <a:pathLst>
                <a:path extrusionOk="0" h="8229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0" y="-47625"/>
              <a:ext cx="14630400" cy="87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Fase 1 — Definición del Proyecto APT</a:t>
              </a:r>
              <a:endParaRPr/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1234440" y="6309360"/>
            <a:ext cx="11932921" cy="2537460"/>
          </a:xfrm>
          <a:custGeom>
            <a:rect b="b" l="l" r="r" t="t"/>
            <a:pathLst>
              <a:path extrusionOk="0" h="3383280" w="159105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5764256" y="0"/>
                </a:lnTo>
                <a:cubicBezTo>
                  <a:pt x="15845028" y="0"/>
                  <a:pt x="15910561" y="65532"/>
                  <a:pt x="15910561" y="146304"/>
                </a:cubicBezTo>
                <a:lnTo>
                  <a:pt x="15910561" y="3236976"/>
                </a:lnTo>
                <a:cubicBezTo>
                  <a:pt x="15910561" y="3317748"/>
                  <a:pt x="15845028" y="3383280"/>
                  <a:pt x="15764256" y="3383280"/>
                </a:cubicBezTo>
                <a:lnTo>
                  <a:pt x="146304" y="3383280"/>
                </a:lnTo>
                <a:cubicBezTo>
                  <a:pt x="65532" y="3383280"/>
                  <a:pt x="0" y="3317748"/>
                  <a:pt x="0" y="323697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"/>
          <p:cNvGrpSpPr/>
          <p:nvPr/>
        </p:nvGrpSpPr>
        <p:grpSpPr>
          <a:xfrm>
            <a:off x="1645920" y="6520529"/>
            <a:ext cx="11109960" cy="584359"/>
            <a:chOff x="0" y="-47625"/>
            <a:chExt cx="14813280" cy="779145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4813280" cy="731520"/>
            </a:xfrm>
            <a:custGeom>
              <a:rect b="b" l="l" r="r" t="t"/>
              <a:pathLst>
                <a:path extrusionOk="0" h="731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571" l="0" r="0" t="-344571"/>
              </a:stretch>
            </a:blip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47625"/>
              <a:ext cx="1481328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Integrantes: </a:t>
              </a: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Basthian Bascuñan · José Pizarro · Matías Negrete</a:t>
              </a:r>
              <a:endParaRPr/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645920" y="7069169"/>
            <a:ext cx="11109960" cy="584359"/>
            <a:chOff x="0" y="-47625"/>
            <a:chExt cx="14813280" cy="779145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4813280" cy="731520"/>
            </a:xfrm>
            <a:custGeom>
              <a:rect b="b" l="l" r="r" t="t"/>
              <a:pathLst>
                <a:path extrusionOk="0" h="731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571" l="0" r="0" t="-344571"/>
              </a:stretch>
            </a:blip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47625"/>
              <a:ext cx="1481328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Asignatura: </a:t>
              </a: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Capstone   </a:t>
              </a: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|   Docente: </a:t>
              </a: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Osnellys Andrade</a:t>
              </a: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1645920" y="7617809"/>
            <a:ext cx="11109960" cy="584359"/>
            <a:chOff x="0" y="-47625"/>
            <a:chExt cx="14813280" cy="779145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4813280" cy="731520"/>
            </a:xfrm>
            <a:custGeom>
              <a:rect b="b" l="l" r="r" t="t"/>
              <a:pathLst>
                <a:path extrusionOk="0" h="731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571" l="0" r="0" t="-344571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47625"/>
              <a:ext cx="1481328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Sección: </a:t>
              </a: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002-D   </a:t>
              </a: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|   Sede: </a:t>
              </a: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Duoc UC Plaza Norte</a:t>
              </a:r>
              <a:endParaRPr/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1645920" y="8166449"/>
            <a:ext cx="11109960" cy="584359"/>
            <a:chOff x="0" y="-47625"/>
            <a:chExt cx="14813280" cy="779145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4813280" cy="731520"/>
            </a:xfrm>
            <a:custGeom>
              <a:rect b="b" l="l" r="r" t="t"/>
              <a:pathLst>
                <a:path extrusionOk="0" h="731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4571" l="0" r="0" t="-344571"/>
              </a:stretch>
            </a:blip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1481328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Periodo: </a:t>
              </a:r>
              <a:r>
                <a:rPr b="0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13-08-2026  al  31-08-2026</a:t>
              </a:r>
              <a:endParaRPr/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2"/>
          <p:cNvGrpSpPr/>
          <p:nvPr/>
        </p:nvGrpSpPr>
        <p:grpSpPr>
          <a:xfrm>
            <a:off x="822960" y="602933"/>
            <a:ext cx="16459200" cy="837247"/>
            <a:chOff x="0" y="-19050"/>
            <a:chExt cx="21945600" cy="111633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134" name="Google Shape;134;p2"/>
            <p:cNvSpPr txBox="1"/>
            <p:nvPr/>
          </p:nvSpPr>
          <p:spPr>
            <a:xfrm>
              <a:off x="0" y="-19050"/>
              <a:ext cx="2194560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1. Datos del documento e información del proyecto</a:t>
              </a: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22960" y="1851660"/>
            <a:ext cx="8366760" cy="7269480"/>
          </a:xfrm>
          <a:custGeom>
            <a:rect b="b" l="l" r="r" t="t"/>
            <a:pathLst>
              <a:path extrusionOk="0" h="9692640" w="111556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1009376" y="0"/>
                </a:lnTo>
                <a:cubicBezTo>
                  <a:pt x="11090148" y="0"/>
                  <a:pt x="11155680" y="65532"/>
                  <a:pt x="11155680" y="146304"/>
                </a:cubicBezTo>
                <a:lnTo>
                  <a:pt x="11155680" y="9546336"/>
                </a:lnTo>
                <a:cubicBezTo>
                  <a:pt x="11155680" y="9627108"/>
                  <a:pt x="11090148" y="9692640"/>
                  <a:pt x="11009376" y="9692640"/>
                </a:cubicBezTo>
                <a:lnTo>
                  <a:pt x="146304" y="9692640"/>
                </a:lnTo>
                <a:cubicBezTo>
                  <a:pt x="65532" y="9692640"/>
                  <a:pt x="0" y="9627108"/>
                  <a:pt x="0" y="9546336"/>
                </a:cubicBezTo>
                <a:close/>
              </a:path>
            </a:pathLst>
          </a:custGeom>
          <a:solidFill>
            <a:srgbClr val="F3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p2"/>
          <p:cNvGrpSpPr/>
          <p:nvPr/>
        </p:nvGrpSpPr>
        <p:grpSpPr>
          <a:xfrm>
            <a:off x="1303020" y="2158841"/>
            <a:ext cx="7406640" cy="584359"/>
            <a:chOff x="0" y="-47625"/>
            <a:chExt cx="9875520" cy="779145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9875520" cy="731520"/>
            </a:xfrm>
            <a:custGeom>
              <a:rect b="b" l="l" r="r" t="t"/>
              <a:pathLst>
                <a:path extrusionOk="0"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3047" l="0" r="0" t="-213047"/>
              </a:stretch>
            </a:blip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INFORMACIÓN DEL PROYECTO</a:t>
              </a:r>
              <a:endParaRPr/>
            </a:p>
          </p:txBody>
        </p:sp>
      </p:grpSp>
      <p:sp>
        <p:nvSpPr>
          <p:cNvPr id="139" name="Google Shape;139;p2"/>
          <p:cNvSpPr txBox="1"/>
          <p:nvPr/>
        </p:nvSpPr>
        <p:spPr>
          <a:xfrm>
            <a:off x="1303020" y="286131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ORGANIZACIÓN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3977640" y="2842260"/>
            <a:ext cx="4937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Duoc UC — Escuela de Informática y Telecomunicaciones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303020" y="368427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3977640" y="3665220"/>
            <a:ext cx="4937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HouseGreen / Sistema de Inteligencia Pre-Puja para Propiedades en Remate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303020" y="450723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PATROCINADOR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3977640" y="4488180"/>
            <a:ext cx="4937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HouseGreen SpA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1303020" y="533019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SECCIÓN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3977640" y="5311140"/>
            <a:ext cx="4937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002-D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1303020" y="615315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FECHA DE INICIO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3977640" y="6134100"/>
            <a:ext cx="493776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13-08-2026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1303020" y="697611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FECHA DE TÉRMINO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3977640" y="6957060"/>
            <a:ext cx="4937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31-08-2026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1303020" y="7799070"/>
            <a:ext cx="260604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3977640" y="7780020"/>
            <a:ext cx="4937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Osnellys Andrade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9532620" y="1851660"/>
            <a:ext cx="7886700" cy="7269480"/>
          </a:xfrm>
          <a:custGeom>
            <a:rect b="b" l="l" r="r" t="t"/>
            <a:pathLst>
              <a:path extrusionOk="0" h="9692640" w="1051560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369296" y="0"/>
                </a:lnTo>
                <a:cubicBezTo>
                  <a:pt x="10450068" y="0"/>
                  <a:pt x="10515600" y="65532"/>
                  <a:pt x="10515600" y="146304"/>
                </a:cubicBezTo>
                <a:lnTo>
                  <a:pt x="10515600" y="9546336"/>
                </a:lnTo>
                <a:cubicBezTo>
                  <a:pt x="10515600" y="9627108"/>
                  <a:pt x="10450068" y="9692640"/>
                  <a:pt x="10369296" y="9692640"/>
                </a:cubicBezTo>
                <a:lnTo>
                  <a:pt x="146304" y="9692640"/>
                </a:lnTo>
                <a:cubicBezTo>
                  <a:pt x="65532" y="9692640"/>
                  <a:pt x="0" y="9627108"/>
                  <a:pt x="0" y="9546336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2"/>
          <p:cNvGrpSpPr/>
          <p:nvPr/>
        </p:nvGrpSpPr>
        <p:grpSpPr>
          <a:xfrm>
            <a:off x="10012680" y="2158841"/>
            <a:ext cx="6858000" cy="584359"/>
            <a:chOff x="0" y="-47625"/>
            <a:chExt cx="9144000" cy="779145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9144000" cy="731520"/>
            </a:xfrm>
            <a:custGeom>
              <a:rect b="b" l="l" r="r" t="t"/>
              <a:pathLst>
                <a:path extrusionOk="0"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3570" l="0" r="0" t="-193570"/>
              </a:stretch>
            </a:blipFill>
            <a:ln>
              <a:noFill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EQUIPO DE TRABAJO</a:t>
              </a:r>
              <a:endParaRPr/>
            </a:p>
          </p:txBody>
        </p:sp>
      </p:grpSp>
      <p:sp>
        <p:nvSpPr>
          <p:cNvPr id="157" name="Google Shape;157;p2"/>
          <p:cNvSpPr/>
          <p:nvPr/>
        </p:nvSpPr>
        <p:spPr>
          <a:xfrm>
            <a:off x="10012680" y="308610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2"/>
          <p:cNvGrpSpPr/>
          <p:nvPr/>
        </p:nvGrpSpPr>
        <p:grpSpPr>
          <a:xfrm>
            <a:off x="10012680" y="3036094"/>
            <a:ext cx="685800" cy="735806"/>
            <a:chOff x="0" y="-66675"/>
            <a:chExt cx="914400" cy="981075"/>
          </a:xfrm>
        </p:grpSpPr>
        <p:sp>
          <p:nvSpPr>
            <p:cNvPr id="159" name="Google Shape;159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60" name="Google Shape;160;p2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161" name="Google Shape;161;p2"/>
          <p:cNvGrpSpPr/>
          <p:nvPr/>
        </p:nvGrpSpPr>
        <p:grpSpPr>
          <a:xfrm>
            <a:off x="10904220" y="3187556"/>
            <a:ext cx="6035040" cy="447199"/>
            <a:chOff x="0" y="-47625"/>
            <a:chExt cx="8046720" cy="596265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8046720" cy="548640"/>
            </a:xfrm>
            <a:custGeom>
              <a:rect b="b" l="l" r="r" t="t"/>
              <a:pathLst>
                <a:path extrusionOk="0"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5780" l="0" r="0" t="-235780"/>
              </a:stretch>
            </a:blipFill>
            <a:ln>
              <a:noFill/>
            </a:ln>
          </p:spPr>
        </p:sp>
        <p:sp>
          <p:nvSpPr>
            <p:cNvPr id="163" name="Google Shape;163;p2"/>
            <p:cNvSpPr txBox="1"/>
            <p:nvPr/>
          </p:nvSpPr>
          <p:spPr>
            <a:xfrm>
              <a:off x="0" y="-47625"/>
              <a:ext cx="8046720" cy="59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Basthian Bascuñan</a:t>
              </a:r>
              <a:endParaRPr/>
            </a:p>
          </p:txBody>
        </p:sp>
      </p:grpSp>
      <p:sp>
        <p:nvSpPr>
          <p:cNvPr id="164" name="Google Shape;164;p2"/>
          <p:cNvSpPr/>
          <p:nvPr/>
        </p:nvSpPr>
        <p:spPr>
          <a:xfrm>
            <a:off x="10012680" y="425196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"/>
          <p:cNvGrpSpPr/>
          <p:nvPr/>
        </p:nvGrpSpPr>
        <p:grpSpPr>
          <a:xfrm>
            <a:off x="10012680" y="4201954"/>
            <a:ext cx="685800" cy="735806"/>
            <a:chOff x="0" y="-66675"/>
            <a:chExt cx="914400" cy="981075"/>
          </a:xfrm>
        </p:grpSpPr>
        <p:sp>
          <p:nvSpPr>
            <p:cNvPr id="166" name="Google Shape;166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67" name="Google Shape;167;p2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endParaRPr/>
            </a:p>
          </p:txBody>
        </p:sp>
      </p:grpSp>
      <p:grpSp>
        <p:nvGrpSpPr>
          <p:cNvPr id="168" name="Google Shape;168;p2"/>
          <p:cNvGrpSpPr/>
          <p:nvPr/>
        </p:nvGrpSpPr>
        <p:grpSpPr>
          <a:xfrm>
            <a:off x="10904220" y="4353401"/>
            <a:ext cx="6035040" cy="447199"/>
            <a:chOff x="0" y="-47625"/>
            <a:chExt cx="8046720" cy="596265"/>
          </a:xfrm>
        </p:grpSpPr>
        <p:sp>
          <p:nvSpPr>
            <p:cNvPr id="169" name="Google Shape;169;p2"/>
            <p:cNvSpPr/>
            <p:nvPr/>
          </p:nvSpPr>
          <p:spPr>
            <a:xfrm>
              <a:off x="0" y="0"/>
              <a:ext cx="8046720" cy="548640"/>
            </a:xfrm>
            <a:custGeom>
              <a:rect b="b" l="l" r="r" t="t"/>
              <a:pathLst>
                <a:path extrusionOk="0"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5780" l="0" r="0" t="-235780"/>
              </a:stretch>
            </a:blipFill>
            <a:ln>
              <a:noFill/>
            </a:ln>
          </p:spPr>
        </p:sp>
        <p:sp>
          <p:nvSpPr>
            <p:cNvPr id="170" name="Google Shape;170;p2"/>
            <p:cNvSpPr txBox="1"/>
            <p:nvPr/>
          </p:nvSpPr>
          <p:spPr>
            <a:xfrm>
              <a:off x="0" y="-47625"/>
              <a:ext cx="8046720" cy="59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José Pizarro</a:t>
              </a:r>
              <a:endParaRPr/>
            </a:p>
          </p:txBody>
        </p:sp>
      </p:grpSp>
      <p:sp>
        <p:nvSpPr>
          <p:cNvPr id="171" name="Google Shape;171;p2"/>
          <p:cNvSpPr/>
          <p:nvPr/>
        </p:nvSpPr>
        <p:spPr>
          <a:xfrm>
            <a:off x="10012680" y="541782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"/>
          <p:cNvGrpSpPr/>
          <p:nvPr/>
        </p:nvGrpSpPr>
        <p:grpSpPr>
          <a:xfrm>
            <a:off x="10012680" y="5367814"/>
            <a:ext cx="685800" cy="735806"/>
            <a:chOff x="0" y="-66675"/>
            <a:chExt cx="914400" cy="981075"/>
          </a:xfrm>
        </p:grpSpPr>
        <p:sp>
          <p:nvSpPr>
            <p:cNvPr id="173" name="Google Shape;173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74" name="Google Shape;174;p2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</p:grpSp>
      <p:grpSp>
        <p:nvGrpSpPr>
          <p:cNvPr id="175" name="Google Shape;175;p2"/>
          <p:cNvGrpSpPr/>
          <p:nvPr/>
        </p:nvGrpSpPr>
        <p:grpSpPr>
          <a:xfrm>
            <a:off x="10913751" y="5519261"/>
            <a:ext cx="6035040" cy="447199"/>
            <a:chOff x="0" y="-47625"/>
            <a:chExt cx="8046720" cy="596265"/>
          </a:xfrm>
        </p:grpSpPr>
        <p:sp>
          <p:nvSpPr>
            <p:cNvPr id="176" name="Google Shape;176;p2"/>
            <p:cNvSpPr/>
            <p:nvPr/>
          </p:nvSpPr>
          <p:spPr>
            <a:xfrm>
              <a:off x="0" y="0"/>
              <a:ext cx="8046720" cy="548640"/>
            </a:xfrm>
            <a:custGeom>
              <a:rect b="b" l="l" r="r" t="t"/>
              <a:pathLst>
                <a:path extrusionOk="0"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5780" l="0" r="0" t="-235780"/>
              </a:stretch>
            </a:blipFill>
            <a:ln>
              <a:noFill/>
            </a:ln>
          </p:spPr>
        </p:sp>
        <p:sp>
          <p:nvSpPr>
            <p:cNvPr id="177" name="Google Shape;177;p2"/>
            <p:cNvSpPr txBox="1"/>
            <p:nvPr/>
          </p:nvSpPr>
          <p:spPr>
            <a:xfrm>
              <a:off x="0" y="-47625"/>
              <a:ext cx="8046720" cy="59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Matías Negrete</a:t>
              </a:r>
              <a:endParaRPr/>
            </a:p>
          </p:txBody>
        </p:sp>
      </p:grpSp>
      <p:cxnSp>
        <p:nvCxnSpPr>
          <p:cNvPr id="178" name="Google Shape;178;p2"/>
          <p:cNvCxnSpPr/>
          <p:nvPr/>
        </p:nvCxnSpPr>
        <p:spPr>
          <a:xfrm rot="9420">
            <a:off x="10003145" y="6647497"/>
            <a:ext cx="6945659" cy="0"/>
          </a:xfrm>
          <a:prstGeom prst="straightConnector1">
            <a:avLst/>
          </a:prstGeom>
          <a:noFill/>
          <a:ln cap="rnd" cmpd="sng" w="9525">
            <a:solidFill>
              <a:srgbClr val="2E5C5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9" name="Google Shape;179;p2"/>
          <p:cNvGrpSpPr/>
          <p:nvPr/>
        </p:nvGrpSpPr>
        <p:grpSpPr>
          <a:xfrm>
            <a:off x="10012680" y="6905149"/>
            <a:ext cx="6858000" cy="432911"/>
            <a:chOff x="0" y="-28575"/>
            <a:chExt cx="9144000" cy="577215"/>
          </a:xfrm>
        </p:grpSpPr>
        <p:sp>
          <p:nvSpPr>
            <p:cNvPr id="180" name="Google Shape;180;p2"/>
            <p:cNvSpPr/>
            <p:nvPr/>
          </p:nvSpPr>
          <p:spPr>
            <a:xfrm>
              <a:off x="0" y="0"/>
              <a:ext cx="9144000" cy="548640"/>
            </a:xfrm>
            <a:custGeom>
              <a:rect b="b" l="l" r="r" t="t"/>
              <a:pathLst>
                <a:path extrusionOk="0"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4760" l="0" r="0" t="-274760"/>
              </a:stretch>
            </a:blipFill>
            <a:ln>
              <a:noFill/>
            </a:ln>
          </p:spPr>
        </p:sp>
        <p:sp>
          <p:nvSpPr>
            <p:cNvPr id="181" name="Google Shape;181;p2"/>
            <p:cNvSpPr txBox="1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Área(s) de desempeño</a:t>
              </a:r>
              <a:endParaRPr/>
            </a:p>
          </p:txBody>
        </p:sp>
      </p:grpSp>
      <p:grpSp>
        <p:nvGrpSpPr>
          <p:cNvPr id="182" name="Google Shape;182;p2"/>
          <p:cNvGrpSpPr/>
          <p:nvPr/>
        </p:nvGrpSpPr>
        <p:grpSpPr>
          <a:xfrm>
            <a:off x="10012680" y="7309485"/>
            <a:ext cx="6926580" cy="1400175"/>
            <a:chOff x="0" y="-38100"/>
            <a:chExt cx="9235440" cy="1866900"/>
          </a:xfrm>
        </p:grpSpPr>
        <p:sp>
          <p:nvSpPr>
            <p:cNvPr id="183" name="Google Shape;183;p2"/>
            <p:cNvSpPr/>
            <p:nvPr/>
          </p:nvSpPr>
          <p:spPr>
            <a:xfrm>
              <a:off x="0" y="0"/>
              <a:ext cx="9235440" cy="1828800"/>
            </a:xfrm>
            <a:custGeom>
              <a:rect b="b" l="l" r="r" t="t"/>
              <a:pathLst>
                <a:path extrusionOk="0" h="18288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398" l="0" r="0" t="-48398"/>
              </a:stretch>
            </a:blipFill>
            <a:ln>
              <a:noFill/>
            </a:ln>
          </p:spPr>
        </p:sp>
        <p:sp>
          <p:nvSpPr>
            <p:cNvPr id="184" name="Google Shape;184;p2"/>
            <p:cNvSpPr txBox="1"/>
            <p:nvPr/>
          </p:nvSpPr>
          <p:spPr>
            <a:xfrm>
              <a:off x="0" y="-38100"/>
              <a:ext cx="923544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Software · Calidad de Software · Bases de Datos · Ingeniería de Software</a:t>
              </a:r>
              <a:endParaRPr/>
            </a:p>
          </p:txBody>
        </p:sp>
      </p:grpSp>
      <p:grpSp>
        <p:nvGrpSpPr>
          <p:cNvPr id="185" name="Google Shape;185;p2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186" name="Google Shape;186;p2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187" name="Google Shape;187;p2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3"/>
          <p:cNvGrpSpPr/>
          <p:nvPr/>
        </p:nvGrpSpPr>
        <p:grpSpPr>
          <a:xfrm>
            <a:off x="822960" y="602933"/>
            <a:ext cx="13716000" cy="837247"/>
            <a:chOff x="0" y="-19050"/>
            <a:chExt cx="18288000" cy="1116330"/>
          </a:xfrm>
        </p:grpSpPr>
        <p:sp>
          <p:nvSpPr>
            <p:cNvPr id="197" name="Google Shape;197;p3"/>
            <p:cNvSpPr/>
            <p:nvPr/>
          </p:nvSpPr>
          <p:spPr>
            <a:xfrm>
              <a:off x="0" y="0"/>
              <a:ext cx="18288000" cy="1097280"/>
            </a:xfrm>
            <a:custGeom>
              <a:rect b="b" l="l" r="r" t="t"/>
              <a:pathLst>
                <a:path extrusionOk="0"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4760" l="0" r="0" t="-274760"/>
              </a:stretch>
            </a:blipFill>
            <a:ln>
              <a:noFill/>
            </a:ln>
          </p:spPr>
        </p:sp>
        <p:sp>
          <p:nvSpPr>
            <p:cNvPr id="198" name="Google Shape;198;p3"/>
            <p:cNvSpPr txBox="1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2. Introducción</a:t>
              </a:r>
              <a:endParaRPr/>
            </a:p>
          </p:txBody>
        </p:sp>
      </p:grpSp>
      <p:sp>
        <p:nvSpPr>
          <p:cNvPr id="199" name="Google Shape;199;p3"/>
          <p:cNvSpPr txBox="1"/>
          <p:nvPr/>
        </p:nvSpPr>
        <p:spPr>
          <a:xfrm>
            <a:off x="822960" y="1813560"/>
            <a:ext cx="165963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En Santiago, inversionistas inmobiliarios compran propiedades en remate (judiciales, por deudas de contribuciones y adjudicadas por bancos), decidiendo en plazos muy acotados.</a:t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822960" y="3497580"/>
            <a:ext cx="5417821" cy="5143500"/>
          </a:xfrm>
          <a:custGeom>
            <a:rect b="b" l="l" r="r" t="t"/>
            <a:pathLst>
              <a:path extrusionOk="0" h="6858000" w="72237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7077456" y="0"/>
                </a:lnTo>
                <a:cubicBezTo>
                  <a:pt x="7158228" y="0"/>
                  <a:pt x="7223761" y="65532"/>
                  <a:pt x="7223761" y="146304"/>
                </a:cubicBezTo>
                <a:lnTo>
                  <a:pt x="7223761" y="6711696"/>
                </a:lnTo>
                <a:cubicBezTo>
                  <a:pt x="7223761" y="6792468"/>
                  <a:pt x="7158228" y="6858000"/>
                  <a:pt x="7077456" y="6858000"/>
                </a:cubicBezTo>
                <a:lnTo>
                  <a:pt x="146304" y="6858000"/>
                </a:lnTo>
                <a:cubicBezTo>
                  <a:pt x="65532" y="6858000"/>
                  <a:pt x="0" y="6792468"/>
                  <a:pt x="0" y="6711696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822960" y="3497580"/>
            <a:ext cx="5417820" cy="164592"/>
          </a:xfrm>
          <a:custGeom>
            <a:rect b="b" l="l" r="r" t="t"/>
            <a:pathLst>
              <a:path extrusionOk="0" h="219456" w="7223760">
                <a:moveTo>
                  <a:pt x="0" y="36576"/>
                </a:moveTo>
                <a:cubicBezTo>
                  <a:pt x="0" y="16383"/>
                  <a:pt x="16383" y="0"/>
                  <a:pt x="36576" y="0"/>
                </a:cubicBezTo>
                <a:lnTo>
                  <a:pt x="7187184" y="0"/>
                </a:lnTo>
                <a:cubicBezTo>
                  <a:pt x="7207377" y="0"/>
                  <a:pt x="7223760" y="16383"/>
                  <a:pt x="7223760" y="36576"/>
                </a:cubicBezTo>
                <a:lnTo>
                  <a:pt x="7223760" y="182880"/>
                </a:lnTo>
                <a:cubicBezTo>
                  <a:pt x="7223760" y="203073"/>
                  <a:pt x="7207377" y="219456"/>
                  <a:pt x="7187184" y="219456"/>
                </a:cubicBezTo>
                <a:lnTo>
                  <a:pt x="36576" y="219456"/>
                </a:lnTo>
                <a:cubicBezTo>
                  <a:pt x="16383" y="219456"/>
                  <a:pt x="0" y="203073"/>
                  <a:pt x="0" y="182880"/>
                </a:cubicBezTo>
                <a:close/>
              </a:path>
            </a:pathLst>
          </a:cu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1234440" y="4046220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3"/>
          <p:cNvGrpSpPr/>
          <p:nvPr/>
        </p:nvGrpSpPr>
        <p:grpSpPr>
          <a:xfrm>
            <a:off x="1234440" y="5060633"/>
            <a:ext cx="4594860" cy="700088"/>
            <a:chOff x="0" y="-19050"/>
            <a:chExt cx="6126480" cy="933450"/>
          </a:xfrm>
        </p:grpSpPr>
        <p:sp>
          <p:nvSpPr>
            <p:cNvPr id="204" name="Google Shape;204;p3"/>
            <p:cNvSpPr/>
            <p:nvPr/>
          </p:nvSpPr>
          <p:spPr>
            <a:xfrm>
              <a:off x="0" y="0"/>
              <a:ext cx="6126480" cy="914400"/>
            </a:xfrm>
            <a:custGeom>
              <a:rect b="b" l="l" r="r" t="t"/>
              <a:pathLst>
                <a:path extrusionOk="0" h="9144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548" l="0" r="0" t="-80548"/>
              </a:stretch>
            </a:blipFill>
            <a:ln>
              <a:noFill/>
            </a:ln>
          </p:spPr>
        </p:sp>
        <p:sp>
          <p:nvSpPr>
            <p:cNvPr id="205" name="Google Shape;205;p3"/>
            <p:cNvSpPr txBox="1"/>
            <p:nvPr/>
          </p:nvSpPr>
          <p:spPr>
            <a:xfrm>
              <a:off x="0" y="-19050"/>
              <a:ext cx="61264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El problema</a:t>
              </a:r>
              <a:endParaRPr/>
            </a:p>
          </p:txBody>
        </p:sp>
      </p:grpSp>
      <p:sp>
        <p:nvSpPr>
          <p:cNvPr id="206" name="Google Shape;206;p3"/>
          <p:cNvSpPr txBox="1"/>
          <p:nvPr/>
        </p:nvSpPr>
        <p:spPr>
          <a:xfrm>
            <a:off x="1234440" y="5724525"/>
            <a:ext cx="4594860" cy="271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La información financiera, legal y física está dispersa (Conservador de Bienes Raíces, bancos, Tesorería), dificultando su recopilación y análisis oportuno.</a:t>
            </a: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6501384" y="3497580"/>
            <a:ext cx="5417821" cy="5143500"/>
          </a:xfrm>
          <a:custGeom>
            <a:rect b="b" l="l" r="r" t="t"/>
            <a:pathLst>
              <a:path extrusionOk="0" h="6858000" w="72237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7077456" y="0"/>
                </a:lnTo>
                <a:cubicBezTo>
                  <a:pt x="7158228" y="0"/>
                  <a:pt x="7223761" y="65532"/>
                  <a:pt x="7223761" y="146304"/>
                </a:cubicBezTo>
                <a:lnTo>
                  <a:pt x="7223761" y="6711696"/>
                </a:lnTo>
                <a:cubicBezTo>
                  <a:pt x="7223761" y="6792468"/>
                  <a:pt x="7158228" y="6858000"/>
                  <a:pt x="7077456" y="6858000"/>
                </a:cubicBezTo>
                <a:lnTo>
                  <a:pt x="146304" y="6858000"/>
                </a:lnTo>
                <a:cubicBezTo>
                  <a:pt x="65532" y="6858000"/>
                  <a:pt x="0" y="6792468"/>
                  <a:pt x="0" y="6711696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6501384" y="3497580"/>
            <a:ext cx="5417820" cy="164592"/>
          </a:xfrm>
          <a:custGeom>
            <a:rect b="b" l="l" r="r" t="t"/>
            <a:pathLst>
              <a:path extrusionOk="0" h="219456" w="7223760">
                <a:moveTo>
                  <a:pt x="0" y="36576"/>
                </a:moveTo>
                <a:cubicBezTo>
                  <a:pt x="0" y="16383"/>
                  <a:pt x="16383" y="0"/>
                  <a:pt x="36576" y="0"/>
                </a:cubicBezTo>
                <a:lnTo>
                  <a:pt x="7187184" y="0"/>
                </a:lnTo>
                <a:cubicBezTo>
                  <a:pt x="7207377" y="0"/>
                  <a:pt x="7223760" y="16383"/>
                  <a:pt x="7223760" y="36576"/>
                </a:cubicBezTo>
                <a:lnTo>
                  <a:pt x="7223760" y="182880"/>
                </a:lnTo>
                <a:cubicBezTo>
                  <a:pt x="7223760" y="203073"/>
                  <a:pt x="7207377" y="219456"/>
                  <a:pt x="7187184" y="219456"/>
                </a:cubicBezTo>
                <a:lnTo>
                  <a:pt x="36576" y="219456"/>
                </a:lnTo>
                <a:cubicBezTo>
                  <a:pt x="16383" y="219456"/>
                  <a:pt x="0" y="203073"/>
                  <a:pt x="0" y="182880"/>
                </a:cubicBezTo>
                <a:close/>
              </a:path>
            </a:pathLst>
          </a:custGeom>
          <a:solidFill>
            <a:srgbClr val="F4A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6912864" y="4046220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F4A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3"/>
          <p:cNvGrpSpPr/>
          <p:nvPr/>
        </p:nvGrpSpPr>
        <p:grpSpPr>
          <a:xfrm>
            <a:off x="6912864" y="5060633"/>
            <a:ext cx="4594860" cy="700088"/>
            <a:chOff x="0" y="-19050"/>
            <a:chExt cx="6126480" cy="933450"/>
          </a:xfrm>
        </p:grpSpPr>
        <p:sp>
          <p:nvSpPr>
            <p:cNvPr id="211" name="Google Shape;211;p3"/>
            <p:cNvSpPr/>
            <p:nvPr/>
          </p:nvSpPr>
          <p:spPr>
            <a:xfrm>
              <a:off x="0" y="0"/>
              <a:ext cx="6126480" cy="914400"/>
            </a:xfrm>
            <a:custGeom>
              <a:rect b="b" l="l" r="r" t="t"/>
              <a:pathLst>
                <a:path extrusionOk="0" h="9144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548" l="0" r="0" t="-80548"/>
              </a:stretch>
            </a:blipFill>
            <a:ln>
              <a:noFill/>
            </a:ln>
          </p:spPr>
        </p:sp>
        <p:sp>
          <p:nvSpPr>
            <p:cNvPr id="212" name="Google Shape;212;p3"/>
            <p:cNvSpPr txBox="1"/>
            <p:nvPr/>
          </p:nvSpPr>
          <p:spPr>
            <a:xfrm>
              <a:off x="0" y="-19050"/>
              <a:ext cx="61264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La consecuencia</a:t>
              </a:r>
              <a:endParaRPr/>
            </a:p>
          </p:txBody>
        </p:sp>
      </p:grpSp>
      <p:sp>
        <p:nvSpPr>
          <p:cNvPr id="213" name="Google Shape;213;p3"/>
          <p:cNvSpPr txBox="1"/>
          <p:nvPr/>
        </p:nvSpPr>
        <p:spPr>
          <a:xfrm>
            <a:off x="6912864" y="5724525"/>
            <a:ext cx="4594860" cy="271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La evaluación de riesgo se vuelve manual, lenta y propensa a errores, generando decisiones de inversión mal informadas.</a:t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12179808" y="3497580"/>
            <a:ext cx="5417821" cy="5143500"/>
          </a:xfrm>
          <a:custGeom>
            <a:rect b="b" l="l" r="r" t="t"/>
            <a:pathLst>
              <a:path extrusionOk="0" h="6858000" w="72237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7077456" y="0"/>
                </a:lnTo>
                <a:cubicBezTo>
                  <a:pt x="7158228" y="0"/>
                  <a:pt x="7223761" y="65532"/>
                  <a:pt x="7223761" y="146304"/>
                </a:cubicBezTo>
                <a:lnTo>
                  <a:pt x="7223761" y="6711696"/>
                </a:lnTo>
                <a:cubicBezTo>
                  <a:pt x="7223761" y="6792468"/>
                  <a:pt x="7158228" y="6858000"/>
                  <a:pt x="7077456" y="6858000"/>
                </a:cubicBezTo>
                <a:lnTo>
                  <a:pt x="146304" y="6858000"/>
                </a:lnTo>
                <a:cubicBezTo>
                  <a:pt x="65532" y="6858000"/>
                  <a:pt x="0" y="6792468"/>
                  <a:pt x="0" y="6711696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12179808" y="3497580"/>
            <a:ext cx="5417820" cy="164592"/>
          </a:xfrm>
          <a:custGeom>
            <a:rect b="b" l="l" r="r" t="t"/>
            <a:pathLst>
              <a:path extrusionOk="0" h="219456" w="7223760">
                <a:moveTo>
                  <a:pt x="0" y="36576"/>
                </a:moveTo>
                <a:cubicBezTo>
                  <a:pt x="0" y="16383"/>
                  <a:pt x="16383" y="0"/>
                  <a:pt x="36576" y="0"/>
                </a:cubicBezTo>
                <a:lnTo>
                  <a:pt x="7187184" y="0"/>
                </a:lnTo>
                <a:cubicBezTo>
                  <a:pt x="7207377" y="0"/>
                  <a:pt x="7223760" y="16383"/>
                  <a:pt x="7223760" y="36576"/>
                </a:cubicBezTo>
                <a:lnTo>
                  <a:pt x="7223760" y="182880"/>
                </a:lnTo>
                <a:cubicBezTo>
                  <a:pt x="7223760" y="203073"/>
                  <a:pt x="7207377" y="219456"/>
                  <a:pt x="7187184" y="219456"/>
                </a:cubicBezTo>
                <a:lnTo>
                  <a:pt x="36576" y="219456"/>
                </a:lnTo>
                <a:cubicBezTo>
                  <a:pt x="16383" y="219456"/>
                  <a:pt x="0" y="203073"/>
                  <a:pt x="0" y="18288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12591288" y="4046220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3"/>
          <p:cNvGrpSpPr/>
          <p:nvPr/>
        </p:nvGrpSpPr>
        <p:grpSpPr>
          <a:xfrm>
            <a:off x="12591288" y="5060633"/>
            <a:ext cx="4594860" cy="700088"/>
            <a:chOff x="0" y="-19050"/>
            <a:chExt cx="6126480" cy="933450"/>
          </a:xfrm>
        </p:grpSpPr>
        <p:sp>
          <p:nvSpPr>
            <p:cNvPr id="218" name="Google Shape;218;p3"/>
            <p:cNvSpPr/>
            <p:nvPr/>
          </p:nvSpPr>
          <p:spPr>
            <a:xfrm>
              <a:off x="0" y="0"/>
              <a:ext cx="6126480" cy="914400"/>
            </a:xfrm>
            <a:custGeom>
              <a:rect b="b" l="l" r="r" t="t"/>
              <a:pathLst>
                <a:path extrusionOk="0" h="9144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548" l="0" r="0" t="-80548"/>
              </a:stretch>
            </a:blipFill>
            <a:ln>
              <a:noFill/>
            </a:ln>
          </p:spPr>
        </p:sp>
        <p:sp>
          <p:nvSpPr>
            <p:cNvPr id="219" name="Google Shape;219;p3"/>
            <p:cNvSpPr txBox="1"/>
            <p:nvPr/>
          </p:nvSpPr>
          <p:spPr>
            <a:xfrm>
              <a:off x="0" y="-19050"/>
              <a:ext cx="61264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El propósito de este informe</a:t>
              </a:r>
              <a:endParaRPr/>
            </a:p>
          </p:txBody>
        </p:sp>
      </p:grpSp>
      <p:sp>
        <p:nvSpPr>
          <p:cNvPr id="220" name="Google Shape;220;p3"/>
          <p:cNvSpPr txBox="1"/>
          <p:nvPr/>
        </p:nvSpPr>
        <p:spPr>
          <a:xfrm>
            <a:off x="12591288" y="5724525"/>
            <a:ext cx="4594860" cy="271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Documentar la definición del sistema HouseGreen: análisis preliminar, descubrimiento y visión, definición formal y planificación inicial.</a:t>
            </a:r>
            <a:endParaRPr/>
          </a:p>
        </p:txBody>
      </p:sp>
      <p:grpSp>
        <p:nvGrpSpPr>
          <p:cNvPr id="221" name="Google Shape;221;p3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222" name="Google Shape;222;p3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223" name="Google Shape;223;p3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4"/>
          <p:cNvGrpSpPr/>
          <p:nvPr/>
        </p:nvGrpSpPr>
        <p:grpSpPr>
          <a:xfrm>
            <a:off x="822960" y="610076"/>
            <a:ext cx="16459200" cy="830104"/>
            <a:chOff x="0" y="-9525"/>
            <a:chExt cx="21945600" cy="1106805"/>
          </a:xfrm>
        </p:grpSpPr>
        <p:sp>
          <p:nvSpPr>
            <p:cNvPr id="233" name="Google Shape;233;p4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234" name="Google Shape;234;p4"/>
            <p:cNvSpPr txBox="1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3. A. Análisis Preliminar del Caso</a:t>
              </a:r>
              <a:endParaRPr/>
            </a:p>
          </p:txBody>
        </p:sp>
      </p:grpSp>
      <p:sp>
        <p:nvSpPr>
          <p:cNvPr id="235" name="Google Shape;235;p4"/>
          <p:cNvSpPr/>
          <p:nvPr/>
        </p:nvSpPr>
        <p:spPr>
          <a:xfrm>
            <a:off x="822960" y="1783080"/>
            <a:ext cx="8915400" cy="7406640"/>
          </a:xfrm>
          <a:custGeom>
            <a:rect b="b" l="l" r="r" t="t"/>
            <a:pathLst>
              <a:path extrusionOk="0" h="9875520" w="1188720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1740896" y="0"/>
                </a:lnTo>
                <a:cubicBezTo>
                  <a:pt x="11821668" y="0"/>
                  <a:pt x="11887200" y="65532"/>
                  <a:pt x="11887200" y="146304"/>
                </a:cubicBezTo>
                <a:lnTo>
                  <a:pt x="11887200" y="9729216"/>
                </a:lnTo>
                <a:cubicBezTo>
                  <a:pt x="11887200" y="9809988"/>
                  <a:pt x="11821668" y="9875520"/>
                  <a:pt x="11740896" y="9875520"/>
                </a:cubicBezTo>
                <a:lnTo>
                  <a:pt x="146304" y="9875520"/>
                </a:lnTo>
                <a:cubicBezTo>
                  <a:pt x="65532" y="9875520"/>
                  <a:pt x="0" y="9809988"/>
                  <a:pt x="0" y="9729216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4"/>
          <p:cNvGrpSpPr/>
          <p:nvPr/>
        </p:nvGrpSpPr>
        <p:grpSpPr>
          <a:xfrm>
            <a:off x="1234440" y="2021681"/>
            <a:ext cx="8092440" cy="515779"/>
            <a:chOff x="0" y="-47625"/>
            <a:chExt cx="10789920" cy="687705"/>
          </a:xfrm>
        </p:grpSpPr>
        <p:sp>
          <p:nvSpPr>
            <p:cNvPr id="237" name="Google Shape;237;p4"/>
            <p:cNvSpPr/>
            <p:nvPr/>
          </p:nvSpPr>
          <p:spPr>
            <a:xfrm>
              <a:off x="0" y="0"/>
              <a:ext cx="10789920" cy="640080"/>
            </a:xfrm>
            <a:custGeom>
              <a:rect b="b" l="l" r="r" t="t"/>
              <a:pathLst>
                <a:path extrusionOk="0"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8472" l="0" r="0" t="-278472"/>
              </a:stretch>
            </a:blipFill>
            <a:ln>
              <a:noFill/>
            </a:ln>
          </p:spPr>
        </p:sp>
        <p:sp>
          <p:nvSpPr>
            <p:cNvPr id="238" name="Google Shape;238;p4"/>
            <p:cNvSpPr txBox="1"/>
            <p:nvPr/>
          </p:nvSpPr>
          <p:spPr>
            <a:xfrm>
              <a:off x="0" y="-47625"/>
              <a:ext cx="1078992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Contexto organizacional</a:t>
              </a:r>
              <a:endParaRPr/>
            </a:p>
          </p:txBody>
        </p:sp>
      </p:grpSp>
      <p:sp>
        <p:nvSpPr>
          <p:cNvPr id="239" name="Google Shape;239;p4"/>
          <p:cNvSpPr txBox="1"/>
          <p:nvPr/>
        </p:nvSpPr>
        <p:spPr>
          <a:xfrm>
            <a:off x="1234440" y="2521458"/>
            <a:ext cx="809244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Inversionistas que participan en subastas de propiedades en Santiago (remates judiciales, deudas de contribuciones, bienes adjudicados por bancos). No existe un sistema propio que centralice la información: el análisis es manual y recurre a múltiples fuentes externas.</a:t>
            </a:r>
            <a:endParaRPr/>
          </a:p>
        </p:txBody>
      </p:sp>
      <p:cxnSp>
        <p:nvCxnSpPr>
          <p:cNvPr id="240" name="Google Shape;240;p4"/>
          <p:cNvCxnSpPr/>
          <p:nvPr/>
        </p:nvCxnSpPr>
        <p:spPr>
          <a:xfrm rot="8100">
            <a:off x="1224905" y="4727258"/>
            <a:ext cx="8111509" cy="0"/>
          </a:xfrm>
          <a:prstGeom prst="straightConnector1">
            <a:avLst/>
          </a:prstGeom>
          <a:noFill/>
          <a:ln cap="rnd" cmpd="sng" w="9525">
            <a:solidFill>
              <a:srgbClr val="D8E4D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1" name="Google Shape;241;p4"/>
          <p:cNvGrpSpPr/>
          <p:nvPr/>
        </p:nvGrpSpPr>
        <p:grpSpPr>
          <a:xfrm>
            <a:off x="1234440" y="4902041"/>
            <a:ext cx="8092440" cy="515779"/>
            <a:chOff x="0" y="-47625"/>
            <a:chExt cx="10789920" cy="687705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10789920" cy="640080"/>
            </a:xfrm>
            <a:custGeom>
              <a:rect b="b" l="l" r="r" t="t"/>
              <a:pathLst>
                <a:path extrusionOk="0"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8472" l="0" r="0" t="-278472"/>
              </a:stretch>
            </a:blipFill>
            <a:ln>
              <a:noFill/>
            </a:ln>
          </p:spPr>
        </p:sp>
        <p:sp>
          <p:nvSpPr>
            <p:cNvPr id="243" name="Google Shape;243;p4"/>
            <p:cNvSpPr txBox="1"/>
            <p:nvPr/>
          </p:nvSpPr>
          <p:spPr>
            <a:xfrm>
              <a:off x="0" y="-47625"/>
              <a:ext cx="1078992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Planteamiento del problema</a:t>
              </a:r>
              <a:endParaRPr/>
            </a:p>
          </p:txBody>
        </p:sp>
      </p:grpSp>
      <p:sp>
        <p:nvSpPr>
          <p:cNvPr id="244" name="Google Shape;244;p4"/>
          <p:cNvSpPr txBox="1"/>
          <p:nvPr/>
        </p:nvSpPr>
        <p:spPr>
          <a:xfrm>
            <a:off x="1234440" y="5401818"/>
            <a:ext cx="809244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Recopilar información financiera, legal y física dispersa entre el Conservador de Bienes Raíces, bancos y la Tesorería, sin punto único de consulta, vuelve el proceso lento y propenso a errores, dificultando comparar oportunidades objetivamente.</a:t>
            </a:r>
            <a:endParaRPr/>
          </a:p>
        </p:txBody>
      </p:sp>
      <p:cxnSp>
        <p:nvCxnSpPr>
          <p:cNvPr id="245" name="Google Shape;245;p4"/>
          <p:cNvCxnSpPr/>
          <p:nvPr/>
        </p:nvCxnSpPr>
        <p:spPr>
          <a:xfrm rot="8100">
            <a:off x="1224905" y="7607618"/>
            <a:ext cx="8111509" cy="0"/>
          </a:xfrm>
          <a:prstGeom prst="straightConnector1">
            <a:avLst/>
          </a:prstGeom>
          <a:noFill/>
          <a:ln cap="rnd" cmpd="sng" w="9525">
            <a:solidFill>
              <a:srgbClr val="D8E4D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6" name="Google Shape;246;p4"/>
          <p:cNvGrpSpPr/>
          <p:nvPr/>
        </p:nvGrpSpPr>
        <p:grpSpPr>
          <a:xfrm>
            <a:off x="1234440" y="7754969"/>
            <a:ext cx="8092440" cy="447199"/>
            <a:chOff x="0" y="-47625"/>
            <a:chExt cx="10789920" cy="596265"/>
          </a:xfrm>
        </p:grpSpPr>
        <p:sp>
          <p:nvSpPr>
            <p:cNvPr id="247" name="Google Shape;247;p4"/>
            <p:cNvSpPr/>
            <p:nvPr/>
          </p:nvSpPr>
          <p:spPr>
            <a:xfrm>
              <a:off x="0" y="0"/>
              <a:ext cx="10789920" cy="548640"/>
            </a:xfrm>
            <a:custGeom>
              <a:rect b="b" l="l" r="r" t="t"/>
              <a:pathLst>
                <a:path extrusionOk="0"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3200" l="0" r="0" t="-333200"/>
              </a:stretch>
            </a:blipFill>
            <a:ln>
              <a:noFill/>
            </a:ln>
          </p:spPr>
        </p:sp>
        <p:sp>
          <p:nvSpPr>
            <p:cNvPr id="248" name="Google Shape;248;p4"/>
            <p:cNvSpPr txBox="1"/>
            <p:nvPr/>
          </p:nvSpPr>
          <p:spPr>
            <a:xfrm>
              <a:off x="0" y="-47625"/>
              <a:ext cx="10789920" cy="59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Alcance</a:t>
              </a:r>
              <a:endParaRPr/>
            </a:p>
          </p:txBody>
        </p:sp>
      </p:grpSp>
      <p:sp>
        <p:nvSpPr>
          <p:cNvPr id="249" name="Google Shape;249;p4"/>
          <p:cNvSpPr txBox="1"/>
          <p:nvPr/>
        </p:nvSpPr>
        <p:spPr>
          <a:xfrm>
            <a:off x="1234440" y="8172450"/>
            <a:ext cx="8092440" cy="94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API REST (FastAPI/Python) + Web (React/TypeScript) + BD (PostgreSQL). Datos simulados/cargados manualmente; no incluye integración oficial en tiempo real ni despliegue productivo.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10081260" y="1783080"/>
            <a:ext cx="7338060" cy="3429000"/>
          </a:xfrm>
          <a:custGeom>
            <a:rect b="b" l="l" r="r" t="t"/>
            <a:pathLst>
              <a:path extrusionOk="0" h="4572000" w="9784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9637776" y="0"/>
                </a:lnTo>
                <a:cubicBezTo>
                  <a:pt x="9718548" y="0"/>
                  <a:pt x="9784080" y="65532"/>
                  <a:pt x="9784080" y="146304"/>
                </a:cubicBezTo>
                <a:lnTo>
                  <a:pt x="9784080" y="4425696"/>
                </a:lnTo>
                <a:cubicBezTo>
                  <a:pt x="9784080" y="4506468"/>
                  <a:pt x="9718548" y="4572000"/>
                  <a:pt x="9637776" y="4572000"/>
                </a:cubicBezTo>
                <a:lnTo>
                  <a:pt x="146304" y="4572000"/>
                </a:lnTo>
                <a:cubicBezTo>
                  <a:pt x="65532" y="4572000"/>
                  <a:pt x="0" y="4506468"/>
                  <a:pt x="0" y="4425696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4"/>
          <p:cNvGrpSpPr/>
          <p:nvPr/>
        </p:nvGrpSpPr>
        <p:grpSpPr>
          <a:xfrm>
            <a:off x="10492740" y="2028825"/>
            <a:ext cx="6583680" cy="440055"/>
            <a:chOff x="0" y="-38100"/>
            <a:chExt cx="8778240" cy="586740"/>
          </a:xfrm>
        </p:grpSpPr>
        <p:sp>
          <p:nvSpPr>
            <p:cNvPr id="252" name="Google Shape;252;p4"/>
            <p:cNvSpPr/>
            <p:nvPr/>
          </p:nvSpPr>
          <p:spPr>
            <a:xfrm>
              <a:off x="0" y="0"/>
              <a:ext cx="8778240" cy="548640"/>
            </a:xfrm>
            <a:custGeom>
              <a:rect b="b" l="l" r="r" t="t"/>
              <a:pathLst>
                <a:path extrusionOk="0"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</p:sp>
        <p:sp>
          <p:nvSpPr>
            <p:cNvPr id="253" name="Google Shape;253;p4"/>
            <p:cNvSpPr txBox="1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OBJETIVO GENERAL</a:t>
              </a:r>
              <a:endParaRPr/>
            </a:p>
          </p:txBody>
        </p:sp>
      </p:grpSp>
      <p:sp>
        <p:nvSpPr>
          <p:cNvPr id="254" name="Google Shape;254;p4"/>
          <p:cNvSpPr txBox="1"/>
          <p:nvPr/>
        </p:nvSpPr>
        <p:spPr>
          <a:xfrm>
            <a:off x="10492740" y="2461260"/>
            <a:ext cx="6515100" cy="2613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y validar el sistema HouseGreen mediante la implementación y ejecución de pruebas de software que aseguren su correcto funcionamiento, calidad y cumplimiento de los requerimientos definidos.</a:t>
            </a:r>
            <a:endParaRPr/>
          </a:p>
        </p:txBody>
      </p:sp>
      <p:sp>
        <p:nvSpPr>
          <p:cNvPr id="255" name="Google Shape;255;p4"/>
          <p:cNvSpPr/>
          <p:nvPr/>
        </p:nvSpPr>
        <p:spPr>
          <a:xfrm>
            <a:off x="10081260" y="5486400"/>
            <a:ext cx="7338060" cy="3703320"/>
          </a:xfrm>
          <a:custGeom>
            <a:rect b="b" l="l" r="r" t="t"/>
            <a:pathLst>
              <a:path extrusionOk="0" h="4937760" w="97840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9637776" y="0"/>
                </a:lnTo>
                <a:cubicBezTo>
                  <a:pt x="9718548" y="0"/>
                  <a:pt x="9784080" y="65532"/>
                  <a:pt x="9784080" y="146304"/>
                </a:cubicBezTo>
                <a:lnTo>
                  <a:pt x="9784080" y="4791456"/>
                </a:lnTo>
                <a:cubicBezTo>
                  <a:pt x="9784080" y="4872228"/>
                  <a:pt x="9718548" y="4937760"/>
                  <a:pt x="9637776" y="4937760"/>
                </a:cubicBezTo>
                <a:lnTo>
                  <a:pt x="146304" y="4937760"/>
                </a:lnTo>
                <a:cubicBezTo>
                  <a:pt x="65532" y="4937760"/>
                  <a:pt x="0" y="4872228"/>
                  <a:pt x="0" y="4791456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4"/>
          <p:cNvGrpSpPr/>
          <p:nvPr/>
        </p:nvGrpSpPr>
        <p:grpSpPr>
          <a:xfrm>
            <a:off x="10492740" y="5697569"/>
            <a:ext cx="6583680" cy="447199"/>
            <a:chOff x="0" y="-47625"/>
            <a:chExt cx="8778240" cy="596265"/>
          </a:xfrm>
        </p:grpSpPr>
        <p:sp>
          <p:nvSpPr>
            <p:cNvPr id="257" name="Google Shape;257;p4"/>
            <p:cNvSpPr/>
            <p:nvPr/>
          </p:nvSpPr>
          <p:spPr>
            <a:xfrm>
              <a:off x="0" y="0"/>
              <a:ext cx="8778240" cy="548640"/>
            </a:xfrm>
            <a:custGeom>
              <a:rect b="b" l="l" r="r" t="t"/>
              <a:pathLst>
                <a:path extrusionOk="0"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</p:sp>
        <p:sp>
          <p:nvSpPr>
            <p:cNvPr id="258" name="Google Shape;258;p4"/>
            <p:cNvSpPr txBox="1"/>
            <p:nvPr/>
          </p:nvSpPr>
          <p:spPr>
            <a:xfrm>
              <a:off x="0" y="-47625"/>
              <a:ext cx="8778240" cy="59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Justificación</a:t>
              </a:r>
              <a:endParaRPr/>
            </a:p>
          </p:txBody>
        </p:sp>
      </p:grpSp>
      <p:sp>
        <p:nvSpPr>
          <p:cNvPr id="259" name="Google Shape;259;p4"/>
          <p:cNvSpPr txBox="1"/>
          <p:nvPr/>
        </p:nvSpPr>
        <p:spPr>
          <a:xfrm>
            <a:off x="10492740" y="6174105"/>
            <a:ext cx="6583680" cy="2878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Relevante académica y profesionalmente: aplica competencias de desarrollo de software, bases de datos, aseguramiento de calidad y metodologías ágiles, abordando una problemática real de manejo de información dispersa y validación de una funcionalidad crítica (el semáforo de riesgo).</a:t>
            </a:r>
            <a:endParaRPr/>
          </a:p>
        </p:txBody>
      </p:sp>
      <p:grpSp>
        <p:nvGrpSpPr>
          <p:cNvPr id="260" name="Google Shape;260;p4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261" name="Google Shape;261;p4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262" name="Google Shape;262;p4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5"/>
          <p:cNvGrpSpPr/>
          <p:nvPr/>
        </p:nvGrpSpPr>
        <p:grpSpPr>
          <a:xfrm>
            <a:off x="822960" y="610076"/>
            <a:ext cx="16459200" cy="830104"/>
            <a:chOff x="0" y="-9525"/>
            <a:chExt cx="21945600" cy="1106805"/>
          </a:xfrm>
        </p:grpSpPr>
        <p:sp>
          <p:nvSpPr>
            <p:cNvPr id="272" name="Google Shape;272;p5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273" name="Google Shape;273;p5"/>
            <p:cNvSpPr txBox="1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Objetivos específicos</a:t>
              </a:r>
              <a:endParaRPr/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822960" y="1335881"/>
            <a:ext cx="16459200" cy="515779"/>
            <a:chOff x="0" y="-47625"/>
            <a:chExt cx="21945600" cy="687705"/>
          </a:xfrm>
        </p:grpSpPr>
        <p:sp>
          <p:nvSpPr>
            <p:cNvPr id="275" name="Google Shape;275;p5"/>
            <p:cNvSpPr/>
            <p:nvPr/>
          </p:nvSpPr>
          <p:spPr>
            <a:xfrm>
              <a:off x="0" y="0"/>
              <a:ext cx="21945600" cy="640080"/>
            </a:xfrm>
            <a:custGeom>
              <a:rect b="b" l="l" r="r" t="t"/>
              <a:pathLst>
                <a:path extrusionOk="0"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8092" l="0" r="0" t="-618092"/>
              </a:stretch>
            </a:blipFill>
            <a:ln>
              <a:noFill/>
            </a:ln>
          </p:spPr>
        </p:sp>
        <p:sp>
          <p:nvSpPr>
            <p:cNvPr id="276" name="Google Shape;276;p5"/>
            <p:cNvSpPr txBox="1"/>
            <p:nvPr/>
          </p:nvSpPr>
          <p:spPr>
            <a:xfrm>
              <a:off x="0" y="-47625"/>
              <a:ext cx="2194560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95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Análisis Preliminar del Caso — Proyecto APT HouseGreen</a:t>
              </a:r>
              <a:endParaRPr/>
            </a:p>
          </p:txBody>
        </p:sp>
      </p:grpSp>
      <p:sp>
        <p:nvSpPr>
          <p:cNvPr id="277" name="Google Shape;277;p5"/>
          <p:cNvSpPr/>
          <p:nvPr/>
        </p:nvSpPr>
        <p:spPr>
          <a:xfrm>
            <a:off x="822960" y="2784348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1097280" y="3058668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5"/>
          <p:cNvGrpSpPr/>
          <p:nvPr/>
        </p:nvGrpSpPr>
        <p:grpSpPr>
          <a:xfrm>
            <a:off x="1097280" y="3015806"/>
            <a:ext cx="685800" cy="728663"/>
            <a:chOff x="0" y="-57150"/>
            <a:chExt cx="914400" cy="971550"/>
          </a:xfrm>
        </p:grpSpPr>
        <p:sp>
          <p:nvSpPr>
            <p:cNvPr id="280" name="Google Shape;280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281" name="Google Shape;281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282" name="Google Shape;282;p5"/>
          <p:cNvGrpSpPr/>
          <p:nvPr/>
        </p:nvGrpSpPr>
        <p:grpSpPr>
          <a:xfrm>
            <a:off x="2057400" y="2830354"/>
            <a:ext cx="6720840" cy="1449038"/>
            <a:chOff x="0" y="-66675"/>
            <a:chExt cx="8961120" cy="1932051"/>
          </a:xfrm>
        </p:grpSpPr>
        <p:sp>
          <p:nvSpPr>
            <p:cNvPr id="283" name="Google Shape;283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284" name="Google Shape;284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Analizar los requerimientos funcionales y técnicos para definir criterios de aceptación.</a:t>
              </a:r>
              <a:endParaRPr/>
            </a:p>
          </p:txBody>
        </p:sp>
      </p:grpSp>
      <p:sp>
        <p:nvSpPr>
          <p:cNvPr id="285" name="Google Shape;285;p5"/>
          <p:cNvSpPr/>
          <p:nvPr/>
        </p:nvSpPr>
        <p:spPr>
          <a:xfrm>
            <a:off x="822960" y="4320540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1097280" y="459486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5"/>
          <p:cNvGrpSpPr/>
          <p:nvPr/>
        </p:nvGrpSpPr>
        <p:grpSpPr>
          <a:xfrm>
            <a:off x="1097280" y="4551998"/>
            <a:ext cx="685800" cy="728663"/>
            <a:chOff x="0" y="-57150"/>
            <a:chExt cx="914400" cy="971550"/>
          </a:xfrm>
        </p:grpSpPr>
        <p:sp>
          <p:nvSpPr>
            <p:cNvPr id="288" name="Google Shape;288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289" name="Google Shape;289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90" name="Google Shape;290;p5"/>
          <p:cNvGrpSpPr/>
          <p:nvPr/>
        </p:nvGrpSpPr>
        <p:grpSpPr>
          <a:xfrm>
            <a:off x="2057400" y="4366546"/>
            <a:ext cx="6720840" cy="1449038"/>
            <a:chOff x="0" y="-66675"/>
            <a:chExt cx="8961120" cy="1932051"/>
          </a:xfrm>
        </p:grpSpPr>
        <p:sp>
          <p:nvSpPr>
            <p:cNvPr id="291" name="Google Shape;291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292" name="Google Shape;292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Diseñar casos de prueba para las funcionalidades principales (positivos, negativos y de borde).</a:t>
              </a:r>
              <a:endParaRPr/>
            </a:p>
          </p:txBody>
        </p:sp>
      </p:grpSp>
      <p:sp>
        <p:nvSpPr>
          <p:cNvPr id="293" name="Google Shape;293;p5"/>
          <p:cNvSpPr/>
          <p:nvPr/>
        </p:nvSpPr>
        <p:spPr>
          <a:xfrm>
            <a:off x="822960" y="5856732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1097280" y="6131052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5"/>
          <p:cNvGrpSpPr/>
          <p:nvPr/>
        </p:nvGrpSpPr>
        <p:grpSpPr>
          <a:xfrm>
            <a:off x="1097280" y="6088190"/>
            <a:ext cx="685800" cy="728662"/>
            <a:chOff x="0" y="-57150"/>
            <a:chExt cx="914400" cy="971550"/>
          </a:xfrm>
        </p:grpSpPr>
        <p:sp>
          <p:nvSpPr>
            <p:cNvPr id="296" name="Google Shape;296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297" name="Google Shape;297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298" name="Google Shape;298;p5"/>
          <p:cNvGrpSpPr/>
          <p:nvPr/>
        </p:nvGrpSpPr>
        <p:grpSpPr>
          <a:xfrm>
            <a:off x="2057400" y="5902738"/>
            <a:ext cx="6720840" cy="1449038"/>
            <a:chOff x="0" y="-66675"/>
            <a:chExt cx="8961120" cy="1932051"/>
          </a:xfrm>
        </p:grpSpPr>
        <p:sp>
          <p:nvSpPr>
            <p:cNvPr id="299" name="Google Shape;299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300" name="Google Shape;300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Implementar y ejecutar pruebas sobre la API REST, verificando endpoints y respuestas.</a:t>
              </a:r>
              <a:endParaRPr/>
            </a:p>
          </p:txBody>
        </p:sp>
      </p:grpSp>
      <p:sp>
        <p:nvSpPr>
          <p:cNvPr id="301" name="Google Shape;301;p5"/>
          <p:cNvSpPr/>
          <p:nvPr/>
        </p:nvSpPr>
        <p:spPr>
          <a:xfrm>
            <a:off x="822960" y="7392924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1097280" y="7667244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5"/>
          <p:cNvGrpSpPr/>
          <p:nvPr/>
        </p:nvGrpSpPr>
        <p:grpSpPr>
          <a:xfrm>
            <a:off x="1097280" y="7624382"/>
            <a:ext cx="685800" cy="728663"/>
            <a:chOff x="0" y="-57150"/>
            <a:chExt cx="914400" cy="971550"/>
          </a:xfrm>
        </p:grpSpPr>
        <p:sp>
          <p:nvSpPr>
            <p:cNvPr id="304" name="Google Shape;304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305" name="Google Shape;305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306" name="Google Shape;306;p5"/>
          <p:cNvGrpSpPr/>
          <p:nvPr/>
        </p:nvGrpSpPr>
        <p:grpSpPr>
          <a:xfrm>
            <a:off x="2057400" y="7438930"/>
            <a:ext cx="6720840" cy="1449038"/>
            <a:chOff x="0" y="-66675"/>
            <a:chExt cx="8961120" cy="1932051"/>
          </a:xfrm>
        </p:grpSpPr>
        <p:sp>
          <p:nvSpPr>
            <p:cNvPr id="307" name="Google Shape;307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308" name="Google Shape;308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Validar el motor de reglas del semáforo de riesgo con distintos escenarios de datos.</a:t>
              </a:r>
              <a:endParaRPr/>
            </a:p>
          </p:txBody>
        </p:sp>
      </p:grpSp>
      <p:sp>
        <p:nvSpPr>
          <p:cNvPr id="309" name="Google Shape;309;p5"/>
          <p:cNvSpPr/>
          <p:nvPr/>
        </p:nvSpPr>
        <p:spPr>
          <a:xfrm>
            <a:off x="9464040" y="2784348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9738360" y="3058668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1" name="Google Shape;311;p5"/>
          <p:cNvGrpSpPr/>
          <p:nvPr/>
        </p:nvGrpSpPr>
        <p:grpSpPr>
          <a:xfrm>
            <a:off x="9738360" y="3015806"/>
            <a:ext cx="685800" cy="728663"/>
            <a:chOff x="0" y="-57150"/>
            <a:chExt cx="914400" cy="971550"/>
          </a:xfrm>
        </p:grpSpPr>
        <p:sp>
          <p:nvSpPr>
            <p:cNvPr id="312" name="Google Shape;312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313" name="Google Shape;313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314" name="Google Shape;314;p5"/>
          <p:cNvGrpSpPr/>
          <p:nvPr/>
        </p:nvGrpSpPr>
        <p:grpSpPr>
          <a:xfrm>
            <a:off x="10698480" y="2830354"/>
            <a:ext cx="6720840" cy="1449038"/>
            <a:chOff x="0" y="-66675"/>
            <a:chExt cx="8961120" cy="1932051"/>
          </a:xfrm>
        </p:grpSpPr>
        <p:sp>
          <p:nvSpPr>
            <p:cNvPr id="315" name="Google Shape;315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316" name="Google Shape;316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Identificar, documentar y dar seguimiento a los defectos encontrados durante las pruebas.</a:t>
              </a:r>
              <a:endParaRPr/>
            </a:p>
          </p:txBody>
        </p:sp>
      </p:grpSp>
      <p:sp>
        <p:nvSpPr>
          <p:cNvPr id="317" name="Google Shape;317;p5"/>
          <p:cNvSpPr/>
          <p:nvPr/>
        </p:nvSpPr>
        <p:spPr>
          <a:xfrm>
            <a:off x="9464040" y="4320540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"/>
          <p:cNvSpPr/>
          <p:nvPr/>
        </p:nvSpPr>
        <p:spPr>
          <a:xfrm>
            <a:off x="9738360" y="459486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5"/>
          <p:cNvGrpSpPr/>
          <p:nvPr/>
        </p:nvGrpSpPr>
        <p:grpSpPr>
          <a:xfrm>
            <a:off x="9738360" y="4551998"/>
            <a:ext cx="685800" cy="728663"/>
            <a:chOff x="0" y="-57150"/>
            <a:chExt cx="914400" cy="971550"/>
          </a:xfrm>
        </p:grpSpPr>
        <p:sp>
          <p:nvSpPr>
            <p:cNvPr id="320" name="Google Shape;320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321" name="Google Shape;321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grpSp>
        <p:nvGrpSpPr>
          <p:cNvPr id="322" name="Google Shape;322;p5"/>
          <p:cNvGrpSpPr/>
          <p:nvPr/>
        </p:nvGrpSpPr>
        <p:grpSpPr>
          <a:xfrm>
            <a:off x="10698480" y="4366546"/>
            <a:ext cx="6720840" cy="1449038"/>
            <a:chOff x="0" y="-66675"/>
            <a:chExt cx="8961120" cy="1932051"/>
          </a:xfrm>
        </p:grpSpPr>
        <p:sp>
          <p:nvSpPr>
            <p:cNvPr id="323" name="Google Shape;323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324" name="Google Shape;324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Aplicar metodologías ágiles y control de versiones para gestionar el proyecto.</a:t>
              </a:r>
              <a:endParaRPr/>
            </a:p>
          </p:txBody>
        </p:sp>
      </p:grpSp>
      <p:sp>
        <p:nvSpPr>
          <p:cNvPr id="325" name="Google Shape;325;p5"/>
          <p:cNvSpPr/>
          <p:nvPr/>
        </p:nvSpPr>
        <p:spPr>
          <a:xfrm>
            <a:off x="9464040" y="5856732"/>
            <a:ext cx="8023860" cy="1289304"/>
          </a:xfrm>
          <a:custGeom>
            <a:rect b="b" l="l" r="r" t="t"/>
            <a:pathLst>
              <a:path extrusionOk="0" h="1719072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609344"/>
                </a:lnTo>
                <a:cubicBezTo>
                  <a:pt x="10698480" y="1669923"/>
                  <a:pt x="10649331" y="1719072"/>
                  <a:pt x="10588752" y="1719072"/>
                </a:cubicBezTo>
                <a:lnTo>
                  <a:pt x="109728" y="1719072"/>
                </a:lnTo>
                <a:cubicBezTo>
                  <a:pt x="49149" y="1719072"/>
                  <a:pt x="0" y="1669923"/>
                  <a:pt x="0" y="160934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"/>
          <p:cNvSpPr/>
          <p:nvPr/>
        </p:nvSpPr>
        <p:spPr>
          <a:xfrm>
            <a:off x="9738360" y="6131052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5"/>
          <p:cNvGrpSpPr/>
          <p:nvPr/>
        </p:nvGrpSpPr>
        <p:grpSpPr>
          <a:xfrm>
            <a:off x="9738360" y="6088190"/>
            <a:ext cx="685800" cy="728662"/>
            <a:chOff x="0" y="-57150"/>
            <a:chExt cx="914400" cy="971550"/>
          </a:xfrm>
        </p:grpSpPr>
        <p:sp>
          <p:nvSpPr>
            <p:cNvPr id="328" name="Google Shape;328;p5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329" name="Google Shape;329;p5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330" name="Google Shape;330;p5"/>
          <p:cNvGrpSpPr/>
          <p:nvPr/>
        </p:nvGrpSpPr>
        <p:grpSpPr>
          <a:xfrm>
            <a:off x="10698480" y="5902738"/>
            <a:ext cx="6720840" cy="1449038"/>
            <a:chOff x="0" y="-66675"/>
            <a:chExt cx="8961120" cy="1932051"/>
          </a:xfrm>
        </p:grpSpPr>
        <p:sp>
          <p:nvSpPr>
            <p:cNvPr id="331" name="Google Shape;331;p5"/>
            <p:cNvSpPr/>
            <p:nvPr/>
          </p:nvSpPr>
          <p:spPr>
            <a:xfrm>
              <a:off x="0" y="0"/>
              <a:ext cx="8961120" cy="1865376"/>
            </a:xfrm>
            <a:custGeom>
              <a:rect b="b" l="l" r="r" t="t"/>
              <a:pathLst>
                <a:path extrusionOk="0" h="186537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65376"/>
                  </a:lnTo>
                  <a:lnTo>
                    <a:pt x="0" y="18653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05" l="0" r="0" t="-43605"/>
              </a:stretch>
            </a:blipFill>
            <a:ln>
              <a:noFill/>
            </a:ln>
          </p:spPr>
        </p:sp>
        <p:sp>
          <p:nvSpPr>
            <p:cNvPr id="332" name="Google Shape;332;p5"/>
            <p:cNvSpPr txBox="1"/>
            <p:nvPr/>
          </p:nvSpPr>
          <p:spPr>
            <a:xfrm>
              <a:off x="0" y="-66675"/>
              <a:ext cx="8961120" cy="193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Evaluar los resultados obtenidos para determinar el nivel de cumplimiento y calidad.</a:t>
              </a:r>
              <a:endParaRPr/>
            </a:p>
          </p:txBody>
        </p:sp>
      </p:grpSp>
      <p:grpSp>
        <p:nvGrpSpPr>
          <p:cNvPr id="333" name="Google Shape;333;p5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334" name="Google Shape;334;p5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335" name="Google Shape;335;p5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6"/>
          <p:cNvGrpSpPr/>
          <p:nvPr/>
        </p:nvGrpSpPr>
        <p:grpSpPr>
          <a:xfrm>
            <a:off x="822960" y="610076"/>
            <a:ext cx="16459200" cy="830104"/>
            <a:chOff x="0" y="-9525"/>
            <a:chExt cx="21945600" cy="1106805"/>
          </a:xfrm>
        </p:grpSpPr>
        <p:sp>
          <p:nvSpPr>
            <p:cNvPr id="345" name="Google Shape;345;p6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346" name="Google Shape;346;p6"/>
            <p:cNvSpPr txBox="1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4. B. Descubrimiento y visión del producto</a:t>
              </a:r>
              <a:endParaRPr/>
            </a:p>
          </p:txBody>
        </p:sp>
      </p:grpSp>
      <p:grpSp>
        <p:nvGrpSpPr>
          <p:cNvPr id="347" name="Google Shape;347;p6"/>
          <p:cNvGrpSpPr/>
          <p:nvPr/>
        </p:nvGrpSpPr>
        <p:grpSpPr>
          <a:xfrm>
            <a:off x="822960" y="1678781"/>
            <a:ext cx="7543800" cy="515779"/>
            <a:chOff x="0" y="-47625"/>
            <a:chExt cx="10058400" cy="687705"/>
          </a:xfrm>
        </p:grpSpPr>
        <p:sp>
          <p:nvSpPr>
            <p:cNvPr id="348" name="Google Shape;348;p6"/>
            <p:cNvSpPr/>
            <p:nvPr/>
          </p:nvSpPr>
          <p:spPr>
            <a:xfrm>
              <a:off x="0" y="0"/>
              <a:ext cx="10058400" cy="640080"/>
            </a:xfrm>
            <a:custGeom>
              <a:rect b="b" l="l" r="r" t="t"/>
              <a:pathLst>
                <a:path extrusionOk="0"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6185" l="0" r="0" t="-256185"/>
              </a:stretch>
            </a:blipFill>
            <a:ln>
              <a:noFill/>
            </a:ln>
          </p:spPr>
        </p:sp>
        <p:sp>
          <p:nvSpPr>
            <p:cNvPr id="349" name="Google Shape;349;p6"/>
            <p:cNvSpPr txBox="1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Mapa de actores</a:t>
              </a:r>
              <a:endParaRPr/>
            </a:p>
          </p:txBody>
        </p:sp>
      </p:grpSp>
      <p:sp>
        <p:nvSpPr>
          <p:cNvPr id="350" name="Google Shape;350;p6"/>
          <p:cNvSpPr/>
          <p:nvPr/>
        </p:nvSpPr>
        <p:spPr>
          <a:xfrm>
            <a:off x="822960" y="2263140"/>
            <a:ext cx="8023860" cy="1508760"/>
          </a:xfrm>
          <a:custGeom>
            <a:rect b="b" l="l" r="r" t="t"/>
            <a:pathLst>
              <a:path extrusionOk="0" h="2011680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901952"/>
                </a:lnTo>
                <a:cubicBezTo>
                  <a:pt x="10698480" y="1962531"/>
                  <a:pt x="10649331" y="2011680"/>
                  <a:pt x="10588752" y="2011680"/>
                </a:cubicBezTo>
                <a:lnTo>
                  <a:pt x="109728" y="2011680"/>
                </a:lnTo>
                <a:cubicBezTo>
                  <a:pt x="49149" y="2011680"/>
                  <a:pt x="0" y="1962531"/>
                  <a:pt x="0" y="1901952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822960" y="2263140"/>
            <a:ext cx="164592" cy="1508760"/>
          </a:xfrm>
          <a:custGeom>
            <a:rect b="b" l="l" r="r" t="t"/>
            <a:pathLst>
              <a:path extrusionOk="0" h="2011680" w="219456">
                <a:moveTo>
                  <a:pt x="0" y="0"/>
                </a:moveTo>
                <a:lnTo>
                  <a:pt x="219456" y="0"/>
                </a:lnTo>
                <a:lnTo>
                  <a:pt x="219456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52B788"/>
          </a:solidFill>
          <a:ln>
            <a:noFill/>
          </a:ln>
        </p:spPr>
      </p:sp>
      <p:grpSp>
        <p:nvGrpSpPr>
          <p:cNvPr id="352" name="Google Shape;352;p6"/>
          <p:cNvGrpSpPr/>
          <p:nvPr/>
        </p:nvGrpSpPr>
        <p:grpSpPr>
          <a:xfrm>
            <a:off x="1234440" y="2508885"/>
            <a:ext cx="7269480" cy="440055"/>
            <a:chOff x="0" y="-38100"/>
            <a:chExt cx="9692640" cy="586740"/>
          </a:xfrm>
        </p:grpSpPr>
        <p:sp>
          <p:nvSpPr>
            <p:cNvPr id="353" name="Google Shape;353;p6"/>
            <p:cNvSpPr/>
            <p:nvPr/>
          </p:nvSpPr>
          <p:spPr>
            <a:xfrm>
              <a:off x="0" y="0"/>
              <a:ext cx="9692640" cy="548640"/>
            </a:xfrm>
            <a:custGeom>
              <a:rect b="b" l="l" r="r" t="t"/>
              <a:pathLst>
                <a:path extrusionOk="0"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4258" l="0" r="0" t="-294258"/>
              </a:stretch>
            </a:blipFill>
            <a:ln>
              <a:noFill/>
            </a:ln>
          </p:spPr>
        </p:sp>
        <p:sp>
          <p:nvSpPr>
            <p:cNvPr id="354" name="Google Shape;354;p6"/>
            <p:cNvSpPr txBox="1"/>
            <p:nvPr/>
          </p:nvSpPr>
          <p:spPr>
            <a:xfrm>
              <a:off x="0" y="-38100"/>
              <a:ext cx="9692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USUARIO</a:t>
              </a:r>
              <a:endParaRPr/>
            </a:p>
          </p:txBody>
        </p:sp>
      </p:grpSp>
      <p:grpSp>
        <p:nvGrpSpPr>
          <p:cNvPr id="355" name="Google Shape;355;p6"/>
          <p:cNvGrpSpPr/>
          <p:nvPr/>
        </p:nvGrpSpPr>
        <p:grpSpPr>
          <a:xfrm>
            <a:off x="1234440" y="2981801"/>
            <a:ext cx="7269480" cy="652939"/>
            <a:chOff x="0" y="-47625"/>
            <a:chExt cx="9692640" cy="870585"/>
          </a:xfrm>
        </p:grpSpPr>
        <p:sp>
          <p:nvSpPr>
            <p:cNvPr id="356" name="Google Shape;356;p6"/>
            <p:cNvSpPr/>
            <p:nvPr/>
          </p:nvSpPr>
          <p:spPr>
            <a:xfrm>
              <a:off x="0" y="0"/>
              <a:ext cx="9692640" cy="822960"/>
            </a:xfrm>
            <a:custGeom>
              <a:rect b="b" l="l" r="r" t="t"/>
              <a:pathLst>
                <a:path extrusionOk="0"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484" l="0" r="0" t="-179484"/>
              </a:stretch>
            </a:blipFill>
            <a:ln>
              <a:noFill/>
            </a:ln>
          </p:spPr>
        </p:sp>
        <p:sp>
          <p:nvSpPr>
            <p:cNvPr id="357" name="Google Shape;357;p6"/>
            <p:cNvSpPr txBox="1"/>
            <p:nvPr/>
          </p:nvSpPr>
          <p:spPr>
            <a:xfrm>
              <a:off x="0" y="-47625"/>
              <a:ext cx="9692640" cy="87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Inversionista inmobiliario</a:t>
              </a:r>
              <a:endParaRPr/>
            </a:p>
          </p:txBody>
        </p:sp>
      </p:grpSp>
      <p:sp>
        <p:nvSpPr>
          <p:cNvPr id="358" name="Google Shape;358;p6"/>
          <p:cNvSpPr/>
          <p:nvPr/>
        </p:nvSpPr>
        <p:spPr>
          <a:xfrm>
            <a:off x="822960" y="3977640"/>
            <a:ext cx="8023860" cy="1508760"/>
          </a:xfrm>
          <a:custGeom>
            <a:rect b="b" l="l" r="r" t="t"/>
            <a:pathLst>
              <a:path extrusionOk="0" h="2011680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901952"/>
                </a:lnTo>
                <a:cubicBezTo>
                  <a:pt x="10698480" y="1962531"/>
                  <a:pt x="10649331" y="2011680"/>
                  <a:pt x="10588752" y="2011680"/>
                </a:cubicBezTo>
                <a:lnTo>
                  <a:pt x="109728" y="2011680"/>
                </a:lnTo>
                <a:cubicBezTo>
                  <a:pt x="49149" y="2011680"/>
                  <a:pt x="0" y="1962531"/>
                  <a:pt x="0" y="1901952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"/>
          <p:cNvSpPr/>
          <p:nvPr/>
        </p:nvSpPr>
        <p:spPr>
          <a:xfrm>
            <a:off x="822960" y="3977640"/>
            <a:ext cx="164592" cy="1508760"/>
          </a:xfrm>
          <a:custGeom>
            <a:rect b="b" l="l" r="r" t="t"/>
            <a:pathLst>
              <a:path extrusionOk="0" h="2011680" w="219456">
                <a:moveTo>
                  <a:pt x="0" y="0"/>
                </a:moveTo>
                <a:lnTo>
                  <a:pt x="219456" y="0"/>
                </a:lnTo>
                <a:lnTo>
                  <a:pt x="219456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1B4332"/>
          </a:solidFill>
          <a:ln>
            <a:noFill/>
          </a:ln>
        </p:spPr>
      </p:sp>
      <p:grpSp>
        <p:nvGrpSpPr>
          <p:cNvPr id="360" name="Google Shape;360;p6"/>
          <p:cNvGrpSpPr/>
          <p:nvPr/>
        </p:nvGrpSpPr>
        <p:grpSpPr>
          <a:xfrm>
            <a:off x="1234440" y="4223385"/>
            <a:ext cx="7269480" cy="440055"/>
            <a:chOff x="0" y="-38100"/>
            <a:chExt cx="9692640" cy="586740"/>
          </a:xfrm>
        </p:grpSpPr>
        <p:sp>
          <p:nvSpPr>
            <p:cNvPr id="361" name="Google Shape;361;p6"/>
            <p:cNvSpPr/>
            <p:nvPr/>
          </p:nvSpPr>
          <p:spPr>
            <a:xfrm>
              <a:off x="0" y="0"/>
              <a:ext cx="9692640" cy="548640"/>
            </a:xfrm>
            <a:custGeom>
              <a:rect b="b" l="l" r="r" t="t"/>
              <a:pathLst>
                <a:path extrusionOk="0"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4258" l="0" r="0" t="-294258"/>
              </a:stretch>
            </a:blipFill>
            <a:ln>
              <a:noFill/>
            </a:ln>
          </p:spPr>
        </p:sp>
        <p:sp>
          <p:nvSpPr>
            <p:cNvPr id="362" name="Google Shape;362;p6"/>
            <p:cNvSpPr txBox="1"/>
            <p:nvPr/>
          </p:nvSpPr>
          <p:spPr>
            <a:xfrm>
              <a:off x="0" y="-38100"/>
              <a:ext cx="9692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ACTORES INTERNOS</a:t>
              </a:r>
              <a:endParaRPr/>
            </a:p>
          </p:txBody>
        </p:sp>
      </p:grpSp>
      <p:grpSp>
        <p:nvGrpSpPr>
          <p:cNvPr id="363" name="Google Shape;363;p6"/>
          <p:cNvGrpSpPr/>
          <p:nvPr/>
        </p:nvGrpSpPr>
        <p:grpSpPr>
          <a:xfrm>
            <a:off x="1234440" y="4696301"/>
            <a:ext cx="7269480" cy="652939"/>
            <a:chOff x="0" y="-47625"/>
            <a:chExt cx="9692640" cy="870585"/>
          </a:xfrm>
        </p:grpSpPr>
        <p:sp>
          <p:nvSpPr>
            <p:cNvPr id="364" name="Google Shape;364;p6"/>
            <p:cNvSpPr/>
            <p:nvPr/>
          </p:nvSpPr>
          <p:spPr>
            <a:xfrm>
              <a:off x="0" y="0"/>
              <a:ext cx="9692640" cy="822960"/>
            </a:xfrm>
            <a:custGeom>
              <a:rect b="b" l="l" r="r" t="t"/>
              <a:pathLst>
                <a:path extrusionOk="0"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484" l="0" r="0" t="-179484"/>
              </a:stretch>
            </a:blipFill>
            <a:ln>
              <a:noFill/>
            </a:ln>
          </p:spPr>
        </p:sp>
        <p:sp>
          <p:nvSpPr>
            <p:cNvPr id="365" name="Google Shape;365;p6"/>
            <p:cNvSpPr txBox="1"/>
            <p:nvPr/>
          </p:nvSpPr>
          <p:spPr>
            <a:xfrm>
              <a:off x="0" y="-47625"/>
              <a:ext cx="9692640" cy="87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Sistema HouseGreen (web/API), Administrador</a:t>
              </a:r>
              <a:endParaRPr/>
            </a:p>
          </p:txBody>
        </p:sp>
      </p:grpSp>
      <p:sp>
        <p:nvSpPr>
          <p:cNvPr id="366" name="Google Shape;366;p6"/>
          <p:cNvSpPr/>
          <p:nvPr/>
        </p:nvSpPr>
        <p:spPr>
          <a:xfrm>
            <a:off x="822960" y="5692140"/>
            <a:ext cx="8023860" cy="1508760"/>
          </a:xfrm>
          <a:custGeom>
            <a:rect b="b" l="l" r="r" t="t"/>
            <a:pathLst>
              <a:path extrusionOk="0" h="2011680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901952"/>
                </a:lnTo>
                <a:cubicBezTo>
                  <a:pt x="10698480" y="1962531"/>
                  <a:pt x="10649331" y="2011680"/>
                  <a:pt x="10588752" y="2011680"/>
                </a:cubicBezTo>
                <a:lnTo>
                  <a:pt x="109728" y="2011680"/>
                </a:lnTo>
                <a:cubicBezTo>
                  <a:pt x="49149" y="2011680"/>
                  <a:pt x="0" y="1962531"/>
                  <a:pt x="0" y="1901952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822960" y="5692140"/>
            <a:ext cx="164592" cy="1508760"/>
          </a:xfrm>
          <a:custGeom>
            <a:rect b="b" l="l" r="r" t="t"/>
            <a:pathLst>
              <a:path extrusionOk="0" h="2011680" w="219456">
                <a:moveTo>
                  <a:pt x="0" y="0"/>
                </a:moveTo>
                <a:lnTo>
                  <a:pt x="219456" y="0"/>
                </a:lnTo>
                <a:lnTo>
                  <a:pt x="219456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F4A300"/>
          </a:solidFill>
          <a:ln>
            <a:noFill/>
          </a:ln>
        </p:spPr>
      </p:sp>
      <p:grpSp>
        <p:nvGrpSpPr>
          <p:cNvPr id="368" name="Google Shape;368;p6"/>
          <p:cNvGrpSpPr/>
          <p:nvPr/>
        </p:nvGrpSpPr>
        <p:grpSpPr>
          <a:xfrm>
            <a:off x="1234440" y="5937885"/>
            <a:ext cx="7269480" cy="440055"/>
            <a:chOff x="0" y="-38100"/>
            <a:chExt cx="9692640" cy="586740"/>
          </a:xfrm>
        </p:grpSpPr>
        <p:sp>
          <p:nvSpPr>
            <p:cNvPr id="369" name="Google Shape;369;p6"/>
            <p:cNvSpPr/>
            <p:nvPr/>
          </p:nvSpPr>
          <p:spPr>
            <a:xfrm>
              <a:off x="0" y="0"/>
              <a:ext cx="9692640" cy="548640"/>
            </a:xfrm>
            <a:custGeom>
              <a:rect b="b" l="l" r="r" t="t"/>
              <a:pathLst>
                <a:path extrusionOk="0"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4258" l="0" r="0" t="-294258"/>
              </a:stretch>
            </a:blipFill>
            <a:ln>
              <a:noFill/>
            </a:ln>
          </p:spPr>
        </p:sp>
        <p:sp>
          <p:nvSpPr>
            <p:cNvPr id="370" name="Google Shape;370;p6"/>
            <p:cNvSpPr txBox="1"/>
            <p:nvPr/>
          </p:nvSpPr>
          <p:spPr>
            <a:xfrm>
              <a:off x="0" y="-38100"/>
              <a:ext cx="9692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4A300"/>
                  </a:solidFill>
                  <a:latin typeface="Calibri"/>
                  <a:ea typeface="Calibri"/>
                  <a:cs typeface="Calibri"/>
                  <a:sym typeface="Calibri"/>
                </a:rPr>
                <a:t>ACTORES EXTERNOS</a:t>
              </a:r>
              <a:endParaRPr/>
            </a:p>
          </p:txBody>
        </p:sp>
      </p:grpSp>
      <p:grpSp>
        <p:nvGrpSpPr>
          <p:cNvPr id="371" name="Google Shape;371;p6"/>
          <p:cNvGrpSpPr/>
          <p:nvPr/>
        </p:nvGrpSpPr>
        <p:grpSpPr>
          <a:xfrm>
            <a:off x="1234440" y="6410801"/>
            <a:ext cx="7269480" cy="652939"/>
            <a:chOff x="0" y="-47625"/>
            <a:chExt cx="9692640" cy="870585"/>
          </a:xfrm>
        </p:grpSpPr>
        <p:sp>
          <p:nvSpPr>
            <p:cNvPr id="372" name="Google Shape;372;p6"/>
            <p:cNvSpPr/>
            <p:nvPr/>
          </p:nvSpPr>
          <p:spPr>
            <a:xfrm>
              <a:off x="0" y="0"/>
              <a:ext cx="9692640" cy="822960"/>
            </a:xfrm>
            <a:custGeom>
              <a:rect b="b" l="l" r="r" t="t"/>
              <a:pathLst>
                <a:path extrusionOk="0"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484" l="0" r="0" t="-179484"/>
              </a:stretch>
            </a:blipFill>
            <a:ln>
              <a:noFill/>
            </a:ln>
          </p:spPr>
        </p:sp>
        <p:sp>
          <p:nvSpPr>
            <p:cNvPr id="373" name="Google Shape;373;p6"/>
            <p:cNvSpPr txBox="1"/>
            <p:nvPr/>
          </p:nvSpPr>
          <p:spPr>
            <a:xfrm>
              <a:off x="0" y="-47625"/>
              <a:ext cx="9692640" cy="87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Entidades bancarias, empresas de tasación</a:t>
              </a:r>
              <a:endParaRPr/>
            </a:p>
          </p:txBody>
        </p:sp>
      </p:grpSp>
      <p:sp>
        <p:nvSpPr>
          <p:cNvPr id="374" name="Google Shape;374;p6"/>
          <p:cNvSpPr/>
          <p:nvPr/>
        </p:nvSpPr>
        <p:spPr>
          <a:xfrm>
            <a:off x="822960" y="7406640"/>
            <a:ext cx="8023860" cy="1508760"/>
          </a:xfrm>
          <a:custGeom>
            <a:rect b="b" l="l" r="r" t="t"/>
            <a:pathLst>
              <a:path extrusionOk="0" h="2011680" w="1069848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588752" y="0"/>
                </a:lnTo>
                <a:cubicBezTo>
                  <a:pt x="10649331" y="0"/>
                  <a:pt x="10698480" y="49149"/>
                  <a:pt x="10698480" y="109728"/>
                </a:cubicBezTo>
                <a:lnTo>
                  <a:pt x="10698480" y="1901952"/>
                </a:lnTo>
                <a:cubicBezTo>
                  <a:pt x="10698480" y="1962531"/>
                  <a:pt x="10649331" y="2011680"/>
                  <a:pt x="10588752" y="2011680"/>
                </a:cubicBezTo>
                <a:lnTo>
                  <a:pt x="109728" y="2011680"/>
                </a:lnTo>
                <a:cubicBezTo>
                  <a:pt x="49149" y="2011680"/>
                  <a:pt x="0" y="1962531"/>
                  <a:pt x="0" y="1901952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"/>
          <p:cNvSpPr/>
          <p:nvPr/>
        </p:nvSpPr>
        <p:spPr>
          <a:xfrm>
            <a:off x="822960" y="7406640"/>
            <a:ext cx="164592" cy="1508760"/>
          </a:xfrm>
          <a:custGeom>
            <a:rect b="b" l="l" r="r" t="t"/>
            <a:pathLst>
              <a:path extrusionOk="0" h="2011680" w="219456">
                <a:moveTo>
                  <a:pt x="0" y="0"/>
                </a:moveTo>
                <a:lnTo>
                  <a:pt x="219456" y="0"/>
                </a:lnTo>
                <a:lnTo>
                  <a:pt x="219456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E63946"/>
          </a:solidFill>
          <a:ln>
            <a:noFill/>
          </a:ln>
        </p:spPr>
      </p:sp>
      <p:grpSp>
        <p:nvGrpSpPr>
          <p:cNvPr id="376" name="Google Shape;376;p6"/>
          <p:cNvGrpSpPr/>
          <p:nvPr/>
        </p:nvGrpSpPr>
        <p:grpSpPr>
          <a:xfrm>
            <a:off x="1234440" y="7652385"/>
            <a:ext cx="7269480" cy="440055"/>
            <a:chOff x="0" y="-38100"/>
            <a:chExt cx="9692640" cy="586740"/>
          </a:xfrm>
        </p:grpSpPr>
        <p:sp>
          <p:nvSpPr>
            <p:cNvPr id="377" name="Google Shape;377;p6"/>
            <p:cNvSpPr/>
            <p:nvPr/>
          </p:nvSpPr>
          <p:spPr>
            <a:xfrm>
              <a:off x="0" y="0"/>
              <a:ext cx="9692640" cy="548640"/>
            </a:xfrm>
            <a:custGeom>
              <a:rect b="b" l="l" r="r" t="t"/>
              <a:pathLst>
                <a:path extrusionOk="0"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4258" l="0" r="0" t="-294258"/>
              </a:stretch>
            </a:blipFill>
            <a:ln>
              <a:noFill/>
            </a:ln>
          </p:spPr>
        </p:sp>
        <p:sp>
          <p:nvSpPr>
            <p:cNvPr id="378" name="Google Shape;378;p6"/>
            <p:cNvSpPr txBox="1"/>
            <p:nvPr/>
          </p:nvSpPr>
          <p:spPr>
            <a:xfrm>
              <a:off x="0" y="-38100"/>
              <a:ext cx="9692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E63946"/>
                  </a:solidFill>
                  <a:latin typeface="Calibri"/>
                  <a:ea typeface="Calibri"/>
                  <a:cs typeface="Calibri"/>
                  <a:sym typeface="Calibri"/>
                </a:rPr>
                <a:t>ADMIN. PÚBLICAS</a:t>
              </a:r>
              <a:endParaRPr/>
            </a:p>
          </p:txBody>
        </p:sp>
      </p:grpSp>
      <p:grpSp>
        <p:nvGrpSpPr>
          <p:cNvPr id="379" name="Google Shape;379;p6"/>
          <p:cNvGrpSpPr/>
          <p:nvPr/>
        </p:nvGrpSpPr>
        <p:grpSpPr>
          <a:xfrm>
            <a:off x="1234440" y="8125301"/>
            <a:ext cx="7269480" cy="652939"/>
            <a:chOff x="0" y="-47625"/>
            <a:chExt cx="9692640" cy="870585"/>
          </a:xfrm>
        </p:grpSpPr>
        <p:sp>
          <p:nvSpPr>
            <p:cNvPr id="380" name="Google Shape;380;p6"/>
            <p:cNvSpPr/>
            <p:nvPr/>
          </p:nvSpPr>
          <p:spPr>
            <a:xfrm>
              <a:off x="0" y="0"/>
              <a:ext cx="9692640" cy="822960"/>
            </a:xfrm>
            <a:custGeom>
              <a:rect b="b" l="l" r="r" t="t"/>
              <a:pathLst>
                <a:path extrusionOk="0"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484" l="0" r="0" t="-179484"/>
              </a:stretch>
            </a:blipFill>
            <a:ln>
              <a:noFill/>
            </a:ln>
          </p:spPr>
        </p:sp>
        <p:sp>
          <p:nvSpPr>
            <p:cNvPr id="381" name="Google Shape;381;p6"/>
            <p:cNvSpPr txBox="1"/>
            <p:nvPr/>
          </p:nvSpPr>
          <p:spPr>
            <a:xfrm>
              <a:off x="0" y="-47625"/>
              <a:ext cx="9692640" cy="870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Conservador de Bienes Raíces, Tribunales, Tesorería</a:t>
              </a:r>
              <a:endParaRPr/>
            </a:p>
          </p:txBody>
        </p:sp>
      </p:grpSp>
      <p:grpSp>
        <p:nvGrpSpPr>
          <p:cNvPr id="382" name="Google Shape;382;p6"/>
          <p:cNvGrpSpPr/>
          <p:nvPr/>
        </p:nvGrpSpPr>
        <p:grpSpPr>
          <a:xfrm>
            <a:off x="9258300" y="1678781"/>
            <a:ext cx="8229600" cy="515779"/>
            <a:chOff x="0" y="-47625"/>
            <a:chExt cx="10972800" cy="687705"/>
          </a:xfrm>
        </p:grpSpPr>
        <p:sp>
          <p:nvSpPr>
            <p:cNvPr id="383" name="Google Shape;383;p6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384" name="Google Shape;384;p6"/>
            <p:cNvSpPr txBox="1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Necesidades del inversionista</a:t>
              </a:r>
              <a:endParaRPr/>
            </a:p>
          </p:txBody>
        </p:sp>
      </p:grpSp>
      <p:sp>
        <p:nvSpPr>
          <p:cNvPr id="385" name="Google Shape;385;p6"/>
          <p:cNvSpPr/>
          <p:nvPr/>
        </p:nvSpPr>
        <p:spPr>
          <a:xfrm>
            <a:off x="9258300" y="2263140"/>
            <a:ext cx="8161020" cy="2125980"/>
          </a:xfrm>
          <a:custGeom>
            <a:rect b="b" l="l" r="r" t="t"/>
            <a:pathLst>
              <a:path extrusionOk="0" h="2834640" w="1088136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771632" y="0"/>
                </a:lnTo>
                <a:cubicBezTo>
                  <a:pt x="10832211" y="0"/>
                  <a:pt x="10881360" y="49149"/>
                  <a:pt x="10881360" y="109728"/>
                </a:cubicBezTo>
                <a:lnTo>
                  <a:pt x="10881360" y="2724912"/>
                </a:lnTo>
                <a:cubicBezTo>
                  <a:pt x="10881360" y="2785491"/>
                  <a:pt x="10832211" y="2834640"/>
                  <a:pt x="10771632" y="2834640"/>
                </a:cubicBezTo>
                <a:lnTo>
                  <a:pt x="109728" y="2834640"/>
                </a:lnTo>
                <a:cubicBezTo>
                  <a:pt x="49149" y="2834640"/>
                  <a:pt x="0" y="2785491"/>
                  <a:pt x="0" y="2724912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"/>
          <p:cNvSpPr/>
          <p:nvPr/>
        </p:nvSpPr>
        <p:spPr>
          <a:xfrm>
            <a:off x="9669780" y="2702052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" name="Google Shape;387;p6"/>
          <p:cNvGrpSpPr/>
          <p:nvPr/>
        </p:nvGrpSpPr>
        <p:grpSpPr>
          <a:xfrm>
            <a:off x="9669780" y="2659189"/>
            <a:ext cx="685800" cy="728663"/>
            <a:chOff x="0" y="-57150"/>
            <a:chExt cx="914400" cy="971550"/>
          </a:xfrm>
        </p:grpSpPr>
        <p:sp>
          <p:nvSpPr>
            <p:cNvPr id="388" name="Google Shape;388;p6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389" name="Google Shape;389;p6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/>
            </a:p>
          </p:txBody>
        </p:sp>
      </p:grpSp>
      <p:grpSp>
        <p:nvGrpSpPr>
          <p:cNvPr id="390" name="Google Shape;390;p6"/>
          <p:cNvGrpSpPr/>
          <p:nvPr/>
        </p:nvGrpSpPr>
        <p:grpSpPr>
          <a:xfrm>
            <a:off x="10629900" y="2529173"/>
            <a:ext cx="6583680" cy="584359"/>
            <a:chOff x="0" y="-47625"/>
            <a:chExt cx="8778240" cy="779145"/>
          </a:xfrm>
        </p:grpSpPr>
        <p:sp>
          <p:nvSpPr>
            <p:cNvPr id="391" name="Google Shape;391;p6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392" name="Google Shape;392;p6"/>
            <p:cNvSpPr txBox="1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Acceder a información centralizada</a:t>
              </a:r>
              <a:endParaRPr/>
            </a:p>
          </p:txBody>
        </p:sp>
      </p:grpSp>
      <p:grpSp>
        <p:nvGrpSpPr>
          <p:cNvPr id="393" name="Google Shape;393;p6"/>
          <p:cNvGrpSpPr/>
          <p:nvPr/>
        </p:nvGrpSpPr>
        <p:grpSpPr>
          <a:xfrm>
            <a:off x="10629900" y="3167253"/>
            <a:ext cx="6583680" cy="988695"/>
            <a:chOff x="0" y="-38100"/>
            <a:chExt cx="8778240" cy="1318260"/>
          </a:xfrm>
        </p:grpSpPr>
        <p:sp>
          <p:nvSpPr>
            <p:cNvPr id="394" name="Google Shape;394;p6"/>
            <p:cNvSpPr/>
            <p:nvPr/>
          </p:nvSpPr>
          <p:spPr>
            <a:xfrm>
              <a:off x="0" y="0"/>
              <a:ext cx="8778240" cy="1280160"/>
            </a:xfrm>
            <a:custGeom>
              <a:rect b="b" l="l" r="r" t="t"/>
              <a:pathLst>
                <a:path extrusionOk="0" h="1280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3611" l="0" r="0" t="-83611"/>
              </a:stretch>
            </a:blipFill>
            <a:ln>
              <a:noFill/>
            </a:ln>
          </p:spPr>
        </p:sp>
        <p:sp>
          <p:nvSpPr>
            <p:cNvPr id="395" name="Google Shape;395;p6"/>
            <p:cNvSpPr txBox="1"/>
            <p:nvPr/>
          </p:nvSpPr>
          <p:spPr>
            <a:xfrm>
              <a:off x="0" y="-38100"/>
              <a:ext cx="8778240" cy="1318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Consultar todos los datos relevantes en un solo lugar</a:t>
              </a:r>
              <a:endParaRPr/>
            </a:p>
          </p:txBody>
        </p:sp>
      </p:grpSp>
      <p:sp>
        <p:nvSpPr>
          <p:cNvPr id="396" name="Google Shape;396;p6"/>
          <p:cNvSpPr/>
          <p:nvPr/>
        </p:nvSpPr>
        <p:spPr>
          <a:xfrm>
            <a:off x="9258300" y="4622292"/>
            <a:ext cx="8161020" cy="2125980"/>
          </a:xfrm>
          <a:custGeom>
            <a:rect b="b" l="l" r="r" t="t"/>
            <a:pathLst>
              <a:path extrusionOk="0" h="2834640" w="1088136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771632" y="0"/>
                </a:lnTo>
                <a:cubicBezTo>
                  <a:pt x="10832211" y="0"/>
                  <a:pt x="10881360" y="49149"/>
                  <a:pt x="10881360" y="109728"/>
                </a:cubicBezTo>
                <a:lnTo>
                  <a:pt x="10881360" y="2724912"/>
                </a:lnTo>
                <a:cubicBezTo>
                  <a:pt x="10881360" y="2785491"/>
                  <a:pt x="10832211" y="2834640"/>
                  <a:pt x="10771632" y="2834640"/>
                </a:cubicBezTo>
                <a:lnTo>
                  <a:pt x="109728" y="2834640"/>
                </a:lnTo>
                <a:cubicBezTo>
                  <a:pt x="49149" y="2834640"/>
                  <a:pt x="0" y="2785491"/>
                  <a:pt x="0" y="2724912"/>
                </a:cubicBezTo>
                <a:close/>
              </a:path>
            </a:pathLst>
          </a:custGeom>
          <a:solidFill>
            <a:srgbClr val="EF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6"/>
          <p:cNvSpPr/>
          <p:nvPr/>
        </p:nvSpPr>
        <p:spPr>
          <a:xfrm>
            <a:off x="9669780" y="5061204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6"/>
          <p:cNvGrpSpPr/>
          <p:nvPr/>
        </p:nvGrpSpPr>
        <p:grpSpPr>
          <a:xfrm>
            <a:off x="9669780" y="5018342"/>
            <a:ext cx="685800" cy="728663"/>
            <a:chOff x="0" y="-57150"/>
            <a:chExt cx="914400" cy="971550"/>
          </a:xfrm>
        </p:grpSpPr>
        <p:sp>
          <p:nvSpPr>
            <p:cNvPr id="399" name="Google Shape;399;p6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400" name="Google Shape;400;p6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/>
            </a:p>
          </p:txBody>
        </p:sp>
      </p:grpSp>
      <p:grpSp>
        <p:nvGrpSpPr>
          <p:cNvPr id="401" name="Google Shape;401;p6"/>
          <p:cNvGrpSpPr/>
          <p:nvPr/>
        </p:nvGrpSpPr>
        <p:grpSpPr>
          <a:xfrm>
            <a:off x="10629900" y="4888325"/>
            <a:ext cx="6583680" cy="584359"/>
            <a:chOff x="0" y="-47625"/>
            <a:chExt cx="8778240" cy="779145"/>
          </a:xfrm>
        </p:grpSpPr>
        <p:sp>
          <p:nvSpPr>
            <p:cNvPr id="402" name="Google Shape;402;p6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403" name="Google Shape;403;p6"/>
            <p:cNvSpPr txBox="1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Evaluar rápido el nivel de riesgo</a:t>
              </a:r>
              <a:endParaRPr/>
            </a:p>
          </p:txBody>
        </p:sp>
      </p:grpSp>
      <p:grpSp>
        <p:nvGrpSpPr>
          <p:cNvPr id="404" name="Google Shape;404;p6"/>
          <p:cNvGrpSpPr/>
          <p:nvPr/>
        </p:nvGrpSpPr>
        <p:grpSpPr>
          <a:xfrm>
            <a:off x="10629900" y="5526405"/>
            <a:ext cx="6583680" cy="988695"/>
            <a:chOff x="0" y="-38100"/>
            <a:chExt cx="8778240" cy="1318260"/>
          </a:xfrm>
        </p:grpSpPr>
        <p:sp>
          <p:nvSpPr>
            <p:cNvPr id="405" name="Google Shape;405;p6"/>
            <p:cNvSpPr/>
            <p:nvPr/>
          </p:nvSpPr>
          <p:spPr>
            <a:xfrm>
              <a:off x="0" y="0"/>
              <a:ext cx="8778240" cy="1280160"/>
            </a:xfrm>
            <a:custGeom>
              <a:rect b="b" l="l" r="r" t="t"/>
              <a:pathLst>
                <a:path extrusionOk="0" h="1280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3611" l="0" r="0" t="-83611"/>
              </a:stretch>
            </a:blipFill>
            <a:ln>
              <a:noFill/>
            </a:ln>
          </p:spPr>
        </p:sp>
        <p:sp>
          <p:nvSpPr>
            <p:cNvPr id="406" name="Google Shape;406;p6"/>
            <p:cNvSpPr txBox="1"/>
            <p:nvPr/>
          </p:nvSpPr>
          <p:spPr>
            <a:xfrm>
              <a:off x="0" y="-38100"/>
              <a:ext cx="8778240" cy="1318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Obtener una clasificación automática (semáforo)</a:t>
              </a:r>
              <a:endParaRPr/>
            </a:p>
          </p:txBody>
        </p:sp>
      </p:grpSp>
      <p:sp>
        <p:nvSpPr>
          <p:cNvPr id="407" name="Google Shape;407;p6"/>
          <p:cNvSpPr/>
          <p:nvPr/>
        </p:nvSpPr>
        <p:spPr>
          <a:xfrm>
            <a:off x="9258300" y="6981444"/>
            <a:ext cx="8161020" cy="2125980"/>
          </a:xfrm>
          <a:custGeom>
            <a:rect b="b" l="l" r="r" t="t"/>
            <a:pathLst>
              <a:path extrusionOk="0" h="2834640" w="10881360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0771632" y="0"/>
                </a:lnTo>
                <a:cubicBezTo>
                  <a:pt x="10832211" y="0"/>
                  <a:pt x="10881360" y="49149"/>
                  <a:pt x="10881360" y="109728"/>
                </a:cubicBezTo>
                <a:lnTo>
                  <a:pt x="10881360" y="2724912"/>
                </a:lnTo>
                <a:cubicBezTo>
                  <a:pt x="10881360" y="2785491"/>
                  <a:pt x="10832211" y="2834640"/>
                  <a:pt x="10771632" y="2834640"/>
                </a:cubicBezTo>
                <a:lnTo>
                  <a:pt x="109728" y="2834640"/>
                </a:lnTo>
                <a:cubicBezTo>
                  <a:pt x="49149" y="2834640"/>
                  <a:pt x="0" y="2785491"/>
                  <a:pt x="0" y="2724912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6"/>
          <p:cNvSpPr/>
          <p:nvPr/>
        </p:nvSpPr>
        <p:spPr>
          <a:xfrm>
            <a:off x="9669780" y="7420356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6"/>
          <p:cNvGrpSpPr/>
          <p:nvPr/>
        </p:nvGrpSpPr>
        <p:grpSpPr>
          <a:xfrm>
            <a:off x="9669780" y="7377494"/>
            <a:ext cx="685800" cy="728663"/>
            <a:chOff x="0" y="-57150"/>
            <a:chExt cx="914400" cy="971550"/>
          </a:xfrm>
        </p:grpSpPr>
        <p:sp>
          <p:nvSpPr>
            <p:cNvPr id="410" name="Google Shape;410;p6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411" name="Google Shape;411;p6"/>
            <p:cNvSpPr txBox="1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/>
            </a:p>
          </p:txBody>
        </p:sp>
      </p:grpSp>
      <p:grpSp>
        <p:nvGrpSpPr>
          <p:cNvPr id="412" name="Google Shape;412;p6"/>
          <p:cNvGrpSpPr/>
          <p:nvPr/>
        </p:nvGrpSpPr>
        <p:grpSpPr>
          <a:xfrm>
            <a:off x="10629900" y="7247477"/>
            <a:ext cx="6583680" cy="584359"/>
            <a:chOff x="0" y="-47625"/>
            <a:chExt cx="8778240" cy="779145"/>
          </a:xfrm>
        </p:grpSpPr>
        <p:sp>
          <p:nvSpPr>
            <p:cNvPr id="413" name="Google Shape;413;p6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414" name="Google Shape;414;p6"/>
            <p:cNvSpPr txBox="1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Filtrar y comparar oportunidades</a:t>
              </a:r>
              <a:endParaRPr/>
            </a:p>
          </p:txBody>
        </p:sp>
      </p:grpSp>
      <p:grpSp>
        <p:nvGrpSpPr>
          <p:cNvPr id="415" name="Google Shape;415;p6"/>
          <p:cNvGrpSpPr/>
          <p:nvPr/>
        </p:nvGrpSpPr>
        <p:grpSpPr>
          <a:xfrm>
            <a:off x="10629900" y="7885557"/>
            <a:ext cx="6583680" cy="988695"/>
            <a:chOff x="0" y="-38100"/>
            <a:chExt cx="8778240" cy="1318260"/>
          </a:xfrm>
        </p:grpSpPr>
        <p:sp>
          <p:nvSpPr>
            <p:cNvPr id="416" name="Google Shape;416;p6"/>
            <p:cNvSpPr/>
            <p:nvPr/>
          </p:nvSpPr>
          <p:spPr>
            <a:xfrm>
              <a:off x="0" y="0"/>
              <a:ext cx="8778240" cy="1280160"/>
            </a:xfrm>
            <a:custGeom>
              <a:rect b="b" l="l" r="r" t="t"/>
              <a:pathLst>
                <a:path extrusionOk="0" h="1280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3611" l="0" r="0" t="-83611"/>
              </a:stretch>
            </a:blipFill>
            <a:ln>
              <a:noFill/>
            </a:ln>
          </p:spPr>
        </p:sp>
        <p:sp>
          <p:nvSpPr>
            <p:cNvPr id="417" name="Google Shape;417;p6"/>
            <p:cNvSpPr txBox="1"/>
            <p:nvPr/>
          </p:nvSpPr>
          <p:spPr>
            <a:xfrm>
              <a:off x="0" y="-38100"/>
              <a:ext cx="8778240" cy="1318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Aplicar filtros y guardar propiedades favoritas</a:t>
              </a:r>
              <a:endParaRPr/>
            </a:p>
          </p:txBody>
        </p:sp>
      </p:grpSp>
      <p:grpSp>
        <p:nvGrpSpPr>
          <p:cNvPr id="418" name="Google Shape;418;p6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419" name="Google Shape;419;p6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420" name="Google Shape;420;p6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7"/>
          <p:cNvGrpSpPr/>
          <p:nvPr/>
        </p:nvGrpSpPr>
        <p:grpSpPr>
          <a:xfrm>
            <a:off x="822960" y="610076"/>
            <a:ext cx="16459200" cy="830104"/>
            <a:chOff x="0" y="-9525"/>
            <a:chExt cx="21945600" cy="1106805"/>
          </a:xfrm>
        </p:grpSpPr>
        <p:sp>
          <p:nvSpPr>
            <p:cNvPr id="430" name="Google Shape;430;p7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431" name="Google Shape;431;p7"/>
            <p:cNvSpPr txBox="1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5. C. Definición del producto</a:t>
              </a:r>
              <a:endParaRPr/>
            </a:p>
          </p:txBody>
        </p:sp>
      </p:grpSp>
      <p:sp>
        <p:nvSpPr>
          <p:cNvPr id="432" name="Google Shape;432;p7"/>
          <p:cNvSpPr/>
          <p:nvPr/>
        </p:nvSpPr>
        <p:spPr>
          <a:xfrm>
            <a:off x="822960" y="1714500"/>
            <a:ext cx="16596360" cy="2057400"/>
          </a:xfrm>
          <a:custGeom>
            <a:rect b="b" l="l" r="r" t="t"/>
            <a:pathLst>
              <a:path extrusionOk="0" h="2743200" w="221284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1982176" y="0"/>
                </a:lnTo>
                <a:cubicBezTo>
                  <a:pt x="22062948" y="0"/>
                  <a:pt x="22128480" y="65532"/>
                  <a:pt x="22128480" y="146304"/>
                </a:cubicBezTo>
                <a:lnTo>
                  <a:pt x="22128480" y="2596896"/>
                </a:lnTo>
                <a:cubicBezTo>
                  <a:pt x="22128480" y="2677668"/>
                  <a:pt x="22062948" y="2743200"/>
                  <a:pt x="21982176" y="2743200"/>
                </a:cubicBezTo>
                <a:lnTo>
                  <a:pt x="146304" y="2743200"/>
                </a:lnTo>
                <a:cubicBezTo>
                  <a:pt x="65532" y="2743200"/>
                  <a:pt x="0" y="2677668"/>
                  <a:pt x="0" y="259689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7"/>
          <p:cNvGrpSpPr/>
          <p:nvPr/>
        </p:nvGrpSpPr>
        <p:grpSpPr>
          <a:xfrm>
            <a:off x="1234440" y="1891665"/>
            <a:ext cx="5486400" cy="440055"/>
            <a:chOff x="0" y="-38100"/>
            <a:chExt cx="7315200" cy="586740"/>
          </a:xfrm>
        </p:grpSpPr>
        <p:sp>
          <p:nvSpPr>
            <p:cNvPr id="434" name="Google Shape;434;p7"/>
            <p:cNvSpPr/>
            <p:nvPr/>
          </p:nvSpPr>
          <p:spPr>
            <a:xfrm>
              <a:off x="0" y="0"/>
              <a:ext cx="7315200" cy="548640"/>
            </a:xfrm>
            <a:custGeom>
              <a:rect b="b" l="l" r="r" t="t"/>
              <a:pathLst>
                <a:path extrusionOk="0"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94" l="0" r="0" t="-209794"/>
              </a:stretch>
            </a:blipFill>
            <a:ln>
              <a:noFill/>
            </a:ln>
          </p:spPr>
        </p:sp>
        <p:sp>
          <p:nvSpPr>
            <p:cNvPr id="435" name="Google Shape;435;p7"/>
            <p:cNvSpPr txBox="1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PRODUCT GOAL</a:t>
              </a:r>
              <a:endParaRPr/>
            </a:p>
          </p:txBody>
        </p:sp>
      </p:grpSp>
      <p:sp>
        <p:nvSpPr>
          <p:cNvPr id="436" name="Google Shape;436;p7"/>
          <p:cNvSpPr txBox="1"/>
          <p:nvPr/>
        </p:nvSpPr>
        <p:spPr>
          <a:xfrm>
            <a:off x="1234440" y="2292477"/>
            <a:ext cx="15773400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y validar HouseGreen: un sistema que centralice y estructure datos financieros, legales y físicos de propiedades en remate, entregando una clasificación automática de riesgo (semáforo) para decisiones de inversión más informadas y rápidas.</a:t>
            </a:r>
            <a:endParaRPr/>
          </a:p>
        </p:txBody>
      </p:sp>
      <p:grpSp>
        <p:nvGrpSpPr>
          <p:cNvPr id="437" name="Google Shape;437;p7"/>
          <p:cNvGrpSpPr/>
          <p:nvPr/>
        </p:nvGrpSpPr>
        <p:grpSpPr>
          <a:xfrm>
            <a:off x="822960" y="4079081"/>
            <a:ext cx="8229600" cy="515779"/>
            <a:chOff x="0" y="-47625"/>
            <a:chExt cx="10972800" cy="687705"/>
          </a:xfrm>
        </p:grpSpPr>
        <p:sp>
          <p:nvSpPr>
            <p:cNvPr id="438" name="Google Shape;438;p7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439" name="Google Shape;439;p7"/>
            <p:cNvSpPr txBox="1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Visión — Cuatro pilares</a:t>
              </a:r>
              <a:endParaRPr/>
            </a:p>
          </p:txBody>
        </p:sp>
      </p:grpSp>
      <p:sp>
        <p:nvSpPr>
          <p:cNvPr id="440" name="Google Shape;440;p7"/>
          <p:cNvSpPr/>
          <p:nvPr/>
        </p:nvSpPr>
        <p:spPr>
          <a:xfrm>
            <a:off x="822960" y="4663440"/>
            <a:ext cx="4046220" cy="4594860"/>
          </a:xfrm>
          <a:custGeom>
            <a:rect b="b" l="l" r="r" t="t"/>
            <a:pathLst>
              <a:path extrusionOk="0" h="6126480" w="539496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5248656" y="0"/>
                </a:lnTo>
                <a:cubicBezTo>
                  <a:pt x="5329428" y="0"/>
                  <a:pt x="5394960" y="65532"/>
                  <a:pt x="5394960" y="146304"/>
                </a:cubicBezTo>
                <a:lnTo>
                  <a:pt x="5394960" y="5980176"/>
                </a:lnTo>
                <a:cubicBezTo>
                  <a:pt x="5394960" y="6060948"/>
                  <a:pt x="5329428" y="6126480"/>
                  <a:pt x="5248656" y="6126480"/>
                </a:cubicBezTo>
                <a:lnTo>
                  <a:pt x="146304" y="6126480"/>
                </a:lnTo>
                <a:cubicBezTo>
                  <a:pt x="65532" y="6126480"/>
                  <a:pt x="0" y="6060948"/>
                  <a:pt x="0" y="598017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1165860" y="500634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7"/>
          <p:cNvSpPr txBox="1"/>
          <p:nvPr/>
        </p:nvSpPr>
        <p:spPr>
          <a:xfrm>
            <a:off x="1165860" y="5878830"/>
            <a:ext cx="336042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Valor para el cliente</a:t>
            </a:r>
            <a:endParaRPr/>
          </a:p>
        </p:txBody>
      </p:sp>
      <p:sp>
        <p:nvSpPr>
          <p:cNvPr id="443" name="Google Shape;443;p7"/>
          <p:cNvSpPr txBox="1"/>
          <p:nvPr/>
        </p:nvSpPr>
        <p:spPr>
          <a:xfrm>
            <a:off x="1165860" y="6800850"/>
            <a:ext cx="3360420" cy="2251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Información centralizada y evaluación de riesgo clara antes de ofertar.</a:t>
            </a:r>
            <a:endParaRPr/>
          </a:p>
        </p:txBody>
      </p:sp>
      <p:sp>
        <p:nvSpPr>
          <p:cNvPr id="444" name="Google Shape;444;p7"/>
          <p:cNvSpPr/>
          <p:nvPr/>
        </p:nvSpPr>
        <p:spPr>
          <a:xfrm>
            <a:off x="5102352" y="4663440"/>
            <a:ext cx="4046220" cy="4594860"/>
          </a:xfrm>
          <a:custGeom>
            <a:rect b="b" l="l" r="r" t="t"/>
            <a:pathLst>
              <a:path extrusionOk="0" h="6126480" w="539496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5248656" y="0"/>
                </a:lnTo>
                <a:cubicBezTo>
                  <a:pt x="5329428" y="0"/>
                  <a:pt x="5394960" y="65532"/>
                  <a:pt x="5394960" y="146304"/>
                </a:cubicBezTo>
                <a:lnTo>
                  <a:pt x="5394960" y="5980176"/>
                </a:lnTo>
                <a:cubicBezTo>
                  <a:pt x="5394960" y="6060948"/>
                  <a:pt x="5329428" y="6126480"/>
                  <a:pt x="5248656" y="6126480"/>
                </a:cubicBezTo>
                <a:lnTo>
                  <a:pt x="146304" y="6126480"/>
                </a:lnTo>
                <a:cubicBezTo>
                  <a:pt x="65532" y="6126480"/>
                  <a:pt x="0" y="6060948"/>
                  <a:pt x="0" y="598017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5445252" y="500634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F4A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7"/>
          <p:cNvSpPr txBox="1"/>
          <p:nvPr/>
        </p:nvSpPr>
        <p:spPr>
          <a:xfrm>
            <a:off x="5445252" y="5878830"/>
            <a:ext cx="336042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Factibilidad técnica</a:t>
            </a:r>
            <a:endParaRPr/>
          </a:p>
        </p:txBody>
      </p:sp>
      <p:sp>
        <p:nvSpPr>
          <p:cNvPr id="447" name="Google Shape;447;p7"/>
          <p:cNvSpPr txBox="1"/>
          <p:nvPr/>
        </p:nvSpPr>
        <p:spPr>
          <a:xfrm>
            <a:off x="5445252" y="6800850"/>
            <a:ext cx="3360420" cy="2251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Stack conocido por el equipo: FastAPI, React/TS, PostgreSQL.</a:t>
            </a: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9381744" y="4663440"/>
            <a:ext cx="4046220" cy="4594860"/>
          </a:xfrm>
          <a:custGeom>
            <a:rect b="b" l="l" r="r" t="t"/>
            <a:pathLst>
              <a:path extrusionOk="0" h="6126480" w="539496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5248656" y="0"/>
                </a:lnTo>
                <a:cubicBezTo>
                  <a:pt x="5329428" y="0"/>
                  <a:pt x="5394960" y="65532"/>
                  <a:pt x="5394960" y="146304"/>
                </a:cubicBezTo>
                <a:lnTo>
                  <a:pt x="5394960" y="5980176"/>
                </a:lnTo>
                <a:cubicBezTo>
                  <a:pt x="5394960" y="6060948"/>
                  <a:pt x="5329428" y="6126480"/>
                  <a:pt x="5248656" y="6126480"/>
                </a:cubicBezTo>
                <a:lnTo>
                  <a:pt x="146304" y="6126480"/>
                </a:lnTo>
                <a:cubicBezTo>
                  <a:pt x="65532" y="6126480"/>
                  <a:pt x="0" y="6060948"/>
                  <a:pt x="0" y="598017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7"/>
          <p:cNvSpPr/>
          <p:nvPr/>
        </p:nvSpPr>
        <p:spPr>
          <a:xfrm>
            <a:off x="9724644" y="500634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7"/>
          <p:cNvSpPr txBox="1"/>
          <p:nvPr/>
        </p:nvSpPr>
        <p:spPr>
          <a:xfrm>
            <a:off x="9724644" y="5878830"/>
            <a:ext cx="336042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Impacto organizacional</a:t>
            </a:r>
            <a:endParaRPr/>
          </a:p>
        </p:txBody>
      </p:sp>
      <p:sp>
        <p:nvSpPr>
          <p:cNvPr id="451" name="Google Shape;451;p7"/>
          <p:cNvSpPr txBox="1"/>
          <p:nvPr/>
        </p:nvSpPr>
        <p:spPr>
          <a:xfrm>
            <a:off x="9724644" y="6800850"/>
            <a:ext cx="3360420" cy="2251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Propuesta diferenciada para HouseGreen SpA frente a fuentes dispersas.</a:t>
            </a:r>
            <a:endParaRPr/>
          </a:p>
        </p:txBody>
      </p:sp>
      <p:sp>
        <p:nvSpPr>
          <p:cNvPr id="452" name="Google Shape;452;p7"/>
          <p:cNvSpPr/>
          <p:nvPr/>
        </p:nvSpPr>
        <p:spPr>
          <a:xfrm>
            <a:off x="13661136" y="4663440"/>
            <a:ext cx="4046220" cy="4594860"/>
          </a:xfrm>
          <a:custGeom>
            <a:rect b="b" l="l" r="r" t="t"/>
            <a:pathLst>
              <a:path extrusionOk="0" h="6126480" w="539496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5248656" y="0"/>
                </a:lnTo>
                <a:cubicBezTo>
                  <a:pt x="5329428" y="0"/>
                  <a:pt x="5394960" y="65532"/>
                  <a:pt x="5394960" y="146304"/>
                </a:cubicBezTo>
                <a:lnTo>
                  <a:pt x="5394960" y="5980176"/>
                </a:lnTo>
                <a:cubicBezTo>
                  <a:pt x="5394960" y="6060948"/>
                  <a:pt x="5329428" y="6126480"/>
                  <a:pt x="5248656" y="6126480"/>
                </a:cubicBezTo>
                <a:lnTo>
                  <a:pt x="146304" y="6126480"/>
                </a:lnTo>
                <a:cubicBezTo>
                  <a:pt x="65532" y="6126480"/>
                  <a:pt x="0" y="6060948"/>
                  <a:pt x="0" y="598017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"/>
          <p:cNvSpPr/>
          <p:nvPr/>
        </p:nvSpPr>
        <p:spPr>
          <a:xfrm>
            <a:off x="14004036" y="5006340"/>
            <a:ext cx="685800" cy="6858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cubicBezTo>
                  <a:pt x="0" y="204724"/>
                  <a:pt x="204724" y="0"/>
                  <a:pt x="457200" y="0"/>
                </a:cubicBezTo>
                <a:cubicBezTo>
                  <a:pt x="709676" y="0"/>
                  <a:pt x="914400" y="204724"/>
                  <a:pt x="914400" y="457200"/>
                </a:cubicBezTo>
                <a:cubicBezTo>
                  <a:pt x="914400" y="709676"/>
                  <a:pt x="709676" y="914400"/>
                  <a:pt x="457200" y="914400"/>
                </a:cubicBezTo>
                <a:cubicBezTo>
                  <a:pt x="204724" y="914400"/>
                  <a:pt x="0" y="709676"/>
                  <a:pt x="0" y="457200"/>
                </a:cubicBezTo>
                <a:close/>
              </a:path>
            </a:pathLst>
          </a:custGeom>
          <a:solidFill>
            <a:srgbClr val="6FC3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"/>
          <p:cNvSpPr txBox="1"/>
          <p:nvPr/>
        </p:nvSpPr>
        <p:spPr>
          <a:xfrm>
            <a:off x="14004036" y="5878830"/>
            <a:ext cx="336042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Sostenibilidad</a:t>
            </a:r>
            <a:endParaRPr/>
          </a:p>
        </p:txBody>
      </p:sp>
      <p:sp>
        <p:nvSpPr>
          <p:cNvPr id="455" name="Google Shape;455;p7"/>
          <p:cNvSpPr txBox="1"/>
          <p:nvPr/>
        </p:nvSpPr>
        <p:spPr>
          <a:xfrm>
            <a:off x="14004036" y="6800850"/>
            <a:ext cx="3360420" cy="2251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Metodología ágil (Scrum), Git y enfoque en testing/QA.</a:t>
            </a:r>
            <a:endParaRPr/>
          </a:p>
        </p:txBody>
      </p:sp>
      <p:grpSp>
        <p:nvGrpSpPr>
          <p:cNvPr id="456" name="Google Shape;456;p7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457" name="Google Shape;457;p7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458" name="Google Shape;458;p7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8"/>
          <p:cNvGrpSpPr/>
          <p:nvPr/>
        </p:nvGrpSpPr>
        <p:grpSpPr>
          <a:xfrm>
            <a:off x="822960" y="610076"/>
            <a:ext cx="16459200" cy="830104"/>
            <a:chOff x="0" y="-9525"/>
            <a:chExt cx="21945600" cy="1106805"/>
          </a:xfrm>
        </p:grpSpPr>
        <p:sp>
          <p:nvSpPr>
            <p:cNvPr id="468" name="Google Shape;468;p8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469" name="Google Shape;469;p8"/>
            <p:cNvSpPr txBox="1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Entregables clave del producto</a:t>
              </a:r>
              <a:endParaRPr/>
            </a:p>
          </p:txBody>
        </p:sp>
      </p:grpSp>
      <p:grpSp>
        <p:nvGrpSpPr>
          <p:cNvPr id="470" name="Google Shape;470;p8"/>
          <p:cNvGrpSpPr/>
          <p:nvPr/>
        </p:nvGrpSpPr>
        <p:grpSpPr>
          <a:xfrm>
            <a:off x="822960" y="1335881"/>
            <a:ext cx="16459200" cy="515779"/>
            <a:chOff x="0" y="-47625"/>
            <a:chExt cx="21945600" cy="687705"/>
          </a:xfrm>
        </p:grpSpPr>
        <p:sp>
          <p:nvSpPr>
            <p:cNvPr id="471" name="Google Shape;471;p8"/>
            <p:cNvSpPr/>
            <p:nvPr/>
          </p:nvSpPr>
          <p:spPr>
            <a:xfrm>
              <a:off x="0" y="0"/>
              <a:ext cx="21945600" cy="640080"/>
            </a:xfrm>
            <a:custGeom>
              <a:rect b="b" l="l" r="r" t="t"/>
              <a:pathLst>
                <a:path extrusionOk="0"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8092" l="0" r="0" t="-618092"/>
              </a:stretch>
            </a:blipFill>
            <a:ln>
              <a:noFill/>
            </a:ln>
          </p:spPr>
        </p:sp>
        <p:sp>
          <p:nvSpPr>
            <p:cNvPr id="472" name="Google Shape;472;p8"/>
            <p:cNvSpPr txBox="1"/>
            <p:nvPr/>
          </p:nvSpPr>
          <p:spPr>
            <a:xfrm>
              <a:off x="0" y="-47625"/>
              <a:ext cx="2194560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95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Selección de la definición formal de entregables (19 en total)</a:t>
              </a:r>
              <a:endParaRPr/>
            </a:p>
          </p:txBody>
        </p:sp>
      </p:grpSp>
      <p:sp>
        <p:nvSpPr>
          <p:cNvPr id="473" name="Google Shape;473;p8"/>
          <p:cNvSpPr/>
          <p:nvPr/>
        </p:nvSpPr>
        <p:spPr>
          <a:xfrm>
            <a:off x="822960" y="212598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1124712" y="240030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5" name="Google Shape;475;p8"/>
          <p:cNvGrpSpPr/>
          <p:nvPr/>
        </p:nvGrpSpPr>
        <p:grpSpPr>
          <a:xfrm>
            <a:off x="1124712" y="2364581"/>
            <a:ext cx="548640" cy="584359"/>
            <a:chOff x="0" y="-47625"/>
            <a:chExt cx="731520" cy="779145"/>
          </a:xfrm>
        </p:grpSpPr>
        <p:sp>
          <p:nvSpPr>
            <p:cNvPr id="476" name="Google Shape;476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477" name="Google Shape;477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478" name="Google Shape;478;p8"/>
          <p:cNvSpPr txBox="1"/>
          <p:nvPr/>
        </p:nvSpPr>
        <p:spPr>
          <a:xfrm>
            <a:off x="1097280" y="310705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Plataforma Web HouseGreen</a:t>
            </a:r>
            <a:endParaRPr/>
          </a:p>
        </p:txBody>
      </p:sp>
      <p:sp>
        <p:nvSpPr>
          <p:cNvPr id="479" name="Google Shape;479;p8"/>
          <p:cNvSpPr txBox="1"/>
          <p:nvPr/>
        </p:nvSpPr>
        <p:spPr>
          <a:xfrm>
            <a:off x="1097280" y="399859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Interfaz para consultar, analizar y gestionar propiedades.</a:t>
            </a:r>
            <a:endParaRPr/>
          </a:p>
        </p:txBody>
      </p:sp>
      <p:sp>
        <p:nvSpPr>
          <p:cNvPr id="480" name="Google Shape;480;p8"/>
          <p:cNvSpPr/>
          <p:nvPr/>
        </p:nvSpPr>
        <p:spPr>
          <a:xfrm>
            <a:off x="5074920" y="212598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5376672" y="240030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2" name="Google Shape;482;p8"/>
          <p:cNvGrpSpPr/>
          <p:nvPr/>
        </p:nvGrpSpPr>
        <p:grpSpPr>
          <a:xfrm>
            <a:off x="5376672" y="2364581"/>
            <a:ext cx="548640" cy="584359"/>
            <a:chOff x="0" y="-47625"/>
            <a:chExt cx="731520" cy="779145"/>
          </a:xfrm>
        </p:grpSpPr>
        <p:sp>
          <p:nvSpPr>
            <p:cNvPr id="483" name="Google Shape;483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484" name="Google Shape;484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485" name="Google Shape;485;p8"/>
          <p:cNvSpPr txBox="1"/>
          <p:nvPr/>
        </p:nvSpPr>
        <p:spPr>
          <a:xfrm>
            <a:off x="5349240" y="310705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Backend API REST</a:t>
            </a:r>
            <a:endParaRPr/>
          </a:p>
        </p:txBody>
      </p:sp>
      <p:sp>
        <p:nvSpPr>
          <p:cNvPr id="486" name="Google Shape;486;p8"/>
          <p:cNvSpPr txBox="1"/>
          <p:nvPr/>
        </p:nvSpPr>
        <p:spPr>
          <a:xfrm>
            <a:off x="5349240" y="399859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API centralizada y documentada (Web, App, panel admin).</a:t>
            </a:r>
            <a:endParaRPr/>
          </a:p>
        </p:txBody>
      </p:sp>
      <p:sp>
        <p:nvSpPr>
          <p:cNvPr id="487" name="Google Shape;487;p8"/>
          <p:cNvSpPr/>
          <p:nvPr/>
        </p:nvSpPr>
        <p:spPr>
          <a:xfrm>
            <a:off x="9326880" y="212598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9628632" y="240030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8"/>
          <p:cNvGrpSpPr/>
          <p:nvPr/>
        </p:nvGrpSpPr>
        <p:grpSpPr>
          <a:xfrm>
            <a:off x="9628632" y="2364581"/>
            <a:ext cx="548640" cy="584359"/>
            <a:chOff x="0" y="-47625"/>
            <a:chExt cx="731520" cy="779145"/>
          </a:xfrm>
        </p:grpSpPr>
        <p:sp>
          <p:nvSpPr>
            <p:cNvPr id="490" name="Google Shape;490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491" name="Google Shape;491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492" name="Google Shape;492;p8"/>
          <p:cNvSpPr txBox="1"/>
          <p:nvPr/>
        </p:nvSpPr>
        <p:spPr>
          <a:xfrm>
            <a:off x="9601200" y="310705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Módulo de propiedades</a:t>
            </a:r>
            <a:endParaRPr/>
          </a:p>
        </p:txBody>
      </p:sp>
      <p:sp>
        <p:nvSpPr>
          <p:cNvPr id="493" name="Google Shape;493;p8"/>
          <p:cNvSpPr txBox="1"/>
          <p:nvPr/>
        </p:nvSpPr>
        <p:spPr>
          <a:xfrm>
            <a:off x="9601200" y="399859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CRUD completo, búsqueda, filtros y visualización.</a:t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13578840" y="212598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F6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"/>
          <p:cNvSpPr/>
          <p:nvPr/>
        </p:nvSpPr>
        <p:spPr>
          <a:xfrm>
            <a:off x="13880592" y="240030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6" name="Google Shape;496;p8"/>
          <p:cNvGrpSpPr/>
          <p:nvPr/>
        </p:nvGrpSpPr>
        <p:grpSpPr>
          <a:xfrm>
            <a:off x="13880592" y="2364581"/>
            <a:ext cx="548640" cy="584359"/>
            <a:chOff x="0" y="-47625"/>
            <a:chExt cx="731520" cy="779145"/>
          </a:xfrm>
        </p:grpSpPr>
        <p:sp>
          <p:nvSpPr>
            <p:cNvPr id="497" name="Google Shape;497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498" name="Google Shape;498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499" name="Google Shape;499;p8"/>
          <p:cNvSpPr txBox="1"/>
          <p:nvPr/>
        </p:nvSpPr>
        <p:spPr>
          <a:xfrm>
            <a:off x="13853160" y="310705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Motor de reglas y semáforo</a:t>
            </a:r>
            <a:endParaRPr/>
          </a:p>
        </p:txBody>
      </p:sp>
      <p:sp>
        <p:nvSpPr>
          <p:cNvPr id="500" name="Google Shape;500;p8"/>
          <p:cNvSpPr txBox="1"/>
          <p:nvPr/>
        </p:nvSpPr>
        <p:spPr>
          <a:xfrm>
            <a:off x="13853160" y="399859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Clasifica propiedades en rojo, amarillo o verde.</a:t>
            </a:r>
            <a:endParaRPr/>
          </a:p>
        </p:txBody>
      </p:sp>
      <p:sp>
        <p:nvSpPr>
          <p:cNvPr id="501" name="Google Shape;501;p8"/>
          <p:cNvSpPr/>
          <p:nvPr/>
        </p:nvSpPr>
        <p:spPr>
          <a:xfrm>
            <a:off x="822960" y="576072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EF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"/>
          <p:cNvSpPr/>
          <p:nvPr/>
        </p:nvSpPr>
        <p:spPr>
          <a:xfrm>
            <a:off x="1124712" y="603504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3" name="Google Shape;503;p8"/>
          <p:cNvGrpSpPr/>
          <p:nvPr/>
        </p:nvGrpSpPr>
        <p:grpSpPr>
          <a:xfrm>
            <a:off x="1124712" y="5999321"/>
            <a:ext cx="548640" cy="584359"/>
            <a:chOff x="0" y="-47625"/>
            <a:chExt cx="731520" cy="779145"/>
          </a:xfrm>
        </p:grpSpPr>
        <p:sp>
          <p:nvSpPr>
            <p:cNvPr id="504" name="Google Shape;504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05" name="Google Shape;505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sp>
        <p:nvSpPr>
          <p:cNvPr id="506" name="Google Shape;506;p8"/>
          <p:cNvSpPr txBox="1"/>
          <p:nvPr/>
        </p:nvSpPr>
        <p:spPr>
          <a:xfrm>
            <a:off x="1097280" y="674179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Módulo de autenticación y 2FA</a:t>
            </a:r>
            <a:endParaRPr/>
          </a:p>
        </p:txBody>
      </p:sp>
      <p:sp>
        <p:nvSpPr>
          <p:cNvPr id="507" name="Google Shape;507;p8"/>
          <p:cNvSpPr txBox="1"/>
          <p:nvPr/>
        </p:nvSpPr>
        <p:spPr>
          <a:xfrm>
            <a:off x="1097280" y="763333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Registro, login seguro y gestión de sesiones.</a:t>
            </a:r>
            <a:endParaRPr/>
          </a:p>
        </p:txBody>
      </p:sp>
      <p:sp>
        <p:nvSpPr>
          <p:cNvPr id="508" name="Google Shape;508;p8"/>
          <p:cNvSpPr/>
          <p:nvPr/>
        </p:nvSpPr>
        <p:spPr>
          <a:xfrm>
            <a:off x="5074920" y="576072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EF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8"/>
          <p:cNvSpPr/>
          <p:nvPr/>
        </p:nvSpPr>
        <p:spPr>
          <a:xfrm>
            <a:off x="5376672" y="603504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8"/>
          <p:cNvGrpSpPr/>
          <p:nvPr/>
        </p:nvGrpSpPr>
        <p:grpSpPr>
          <a:xfrm>
            <a:off x="5376672" y="5999321"/>
            <a:ext cx="548640" cy="584359"/>
            <a:chOff x="0" y="-47625"/>
            <a:chExt cx="731520" cy="779145"/>
          </a:xfrm>
        </p:grpSpPr>
        <p:sp>
          <p:nvSpPr>
            <p:cNvPr id="511" name="Google Shape;511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12" name="Google Shape;512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sp>
        <p:nvSpPr>
          <p:cNvPr id="513" name="Google Shape;513;p8"/>
          <p:cNvSpPr txBox="1"/>
          <p:nvPr/>
        </p:nvSpPr>
        <p:spPr>
          <a:xfrm>
            <a:off x="5349240" y="674179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Base de datos centralizada</a:t>
            </a:r>
            <a:endParaRPr/>
          </a:p>
        </p:txBody>
      </p:sp>
      <p:sp>
        <p:nvSpPr>
          <p:cNvPr id="514" name="Google Shape;514;p8"/>
          <p:cNvSpPr txBox="1"/>
          <p:nvPr/>
        </p:nvSpPr>
        <p:spPr>
          <a:xfrm>
            <a:off x="5349240" y="763333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Persistencia de usuarios, propiedades y evaluaciones.</a:t>
            </a:r>
            <a:endParaRPr/>
          </a:p>
        </p:txBody>
      </p:sp>
      <p:sp>
        <p:nvSpPr>
          <p:cNvPr id="515" name="Google Shape;515;p8"/>
          <p:cNvSpPr/>
          <p:nvPr/>
        </p:nvSpPr>
        <p:spPr>
          <a:xfrm>
            <a:off x="9326880" y="576072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EF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8"/>
          <p:cNvSpPr/>
          <p:nvPr/>
        </p:nvSpPr>
        <p:spPr>
          <a:xfrm>
            <a:off x="9628632" y="603504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8"/>
          <p:cNvGrpSpPr/>
          <p:nvPr/>
        </p:nvGrpSpPr>
        <p:grpSpPr>
          <a:xfrm>
            <a:off x="9628632" y="5999321"/>
            <a:ext cx="548640" cy="584359"/>
            <a:chOff x="0" y="-47625"/>
            <a:chExt cx="731520" cy="779145"/>
          </a:xfrm>
        </p:grpSpPr>
        <p:sp>
          <p:nvSpPr>
            <p:cNvPr id="518" name="Google Shape;518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19" name="Google Shape;519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sp>
        <p:nvSpPr>
          <p:cNvPr id="520" name="Google Shape;520;p8"/>
          <p:cNvSpPr txBox="1"/>
          <p:nvPr/>
        </p:nvSpPr>
        <p:spPr>
          <a:xfrm>
            <a:off x="9601200" y="674179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Sistema de alertas</a:t>
            </a:r>
            <a:endParaRPr/>
          </a:p>
        </p:txBody>
      </p:sp>
      <p:sp>
        <p:nvSpPr>
          <p:cNvPr id="521" name="Google Shape;521;p8"/>
          <p:cNvSpPr txBox="1"/>
          <p:nvPr/>
        </p:nvSpPr>
        <p:spPr>
          <a:xfrm>
            <a:off x="9601200" y="763333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Notificaciones de nuevas oportunidades relevantes.</a:t>
            </a:r>
            <a:endParaRPr/>
          </a:p>
        </p:txBody>
      </p:sp>
      <p:sp>
        <p:nvSpPr>
          <p:cNvPr id="522" name="Google Shape;522;p8"/>
          <p:cNvSpPr/>
          <p:nvPr/>
        </p:nvSpPr>
        <p:spPr>
          <a:xfrm>
            <a:off x="13578840" y="5760720"/>
            <a:ext cx="4114800" cy="3497580"/>
          </a:xfrm>
          <a:custGeom>
            <a:rect b="b" l="l" r="r" t="t"/>
            <a:pathLst>
              <a:path extrusionOk="0" h="4663440" w="548640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5358384" y="0"/>
                </a:lnTo>
                <a:cubicBezTo>
                  <a:pt x="5429123" y="0"/>
                  <a:pt x="5486400" y="57277"/>
                  <a:pt x="5486400" y="128016"/>
                </a:cubicBezTo>
                <a:lnTo>
                  <a:pt x="5486400" y="4535424"/>
                </a:lnTo>
                <a:cubicBezTo>
                  <a:pt x="5486400" y="4606163"/>
                  <a:pt x="5429123" y="4663440"/>
                  <a:pt x="5358384" y="4663440"/>
                </a:cubicBezTo>
                <a:lnTo>
                  <a:pt x="128016" y="4663440"/>
                </a:lnTo>
                <a:cubicBezTo>
                  <a:pt x="57277" y="4663440"/>
                  <a:pt x="0" y="4606163"/>
                  <a:pt x="0" y="4535424"/>
                </a:cubicBezTo>
                <a:close/>
              </a:path>
            </a:pathLst>
          </a:custGeom>
          <a:solidFill>
            <a:srgbClr val="EF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8"/>
          <p:cNvSpPr/>
          <p:nvPr/>
        </p:nvSpPr>
        <p:spPr>
          <a:xfrm>
            <a:off x="13880592" y="6035040"/>
            <a:ext cx="548640" cy="548640"/>
          </a:xfrm>
          <a:custGeom>
            <a:rect b="b" l="l" r="r" t="t"/>
            <a:pathLst>
              <a:path extrusionOk="0" h="731520" w="73152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cubicBezTo>
                  <a:pt x="567817" y="0"/>
                  <a:pt x="731520" y="163703"/>
                  <a:pt x="731520" y="365760"/>
                </a:cubicBezTo>
                <a:cubicBezTo>
                  <a:pt x="731520" y="567817"/>
                  <a:pt x="567817" y="731520"/>
                  <a:pt x="365760" y="731520"/>
                </a:cubicBezTo>
                <a:cubicBezTo>
                  <a:pt x="163703" y="731520"/>
                  <a:pt x="0" y="567817"/>
                  <a:pt x="0" y="365760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4" name="Google Shape;524;p8"/>
          <p:cNvGrpSpPr/>
          <p:nvPr/>
        </p:nvGrpSpPr>
        <p:grpSpPr>
          <a:xfrm>
            <a:off x="13880592" y="5999321"/>
            <a:ext cx="548640" cy="584359"/>
            <a:chOff x="0" y="-47625"/>
            <a:chExt cx="731520" cy="779145"/>
          </a:xfrm>
        </p:grpSpPr>
        <p:sp>
          <p:nvSpPr>
            <p:cNvPr id="525" name="Google Shape;525;p8"/>
            <p:cNvSpPr/>
            <p:nvPr/>
          </p:nvSpPr>
          <p:spPr>
            <a:xfrm>
              <a:off x="0" y="0"/>
              <a:ext cx="731520" cy="731520"/>
            </a:xfrm>
            <a:custGeom>
              <a:rect b="b" l="l" r="r" t="t"/>
              <a:pathLst>
                <a:path extrusionOk="0"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26" name="Google Shape;526;p8"/>
            <p:cNvSpPr txBox="1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  <p:sp>
        <p:nvSpPr>
          <p:cNvPr id="527" name="Google Shape;527;p8"/>
          <p:cNvSpPr txBox="1"/>
          <p:nvPr/>
        </p:nvSpPr>
        <p:spPr>
          <a:xfrm>
            <a:off x="13853160" y="6741795"/>
            <a:ext cx="356616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Plan e informe de pruebas</a:t>
            </a:r>
            <a:endParaRPr/>
          </a:p>
        </p:txBody>
      </p:sp>
      <p:sp>
        <p:nvSpPr>
          <p:cNvPr id="528" name="Google Shape;528;p8"/>
          <p:cNvSpPr txBox="1"/>
          <p:nvPr/>
        </p:nvSpPr>
        <p:spPr>
          <a:xfrm>
            <a:off x="13853160" y="7633335"/>
            <a:ext cx="3566160" cy="14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2B27"/>
                </a:solidFill>
                <a:latin typeface="Calibri"/>
                <a:ea typeface="Calibri"/>
                <a:cs typeface="Calibri"/>
                <a:sym typeface="Calibri"/>
              </a:rPr>
              <a:t>Casos documentados: funcionales, API, reglas y cobertura.</a:t>
            </a:r>
            <a:endParaRPr/>
          </a:p>
        </p:txBody>
      </p:sp>
      <p:grpSp>
        <p:nvGrpSpPr>
          <p:cNvPr id="529" name="Google Shape;529;p8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530" name="Google Shape;530;p8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531" name="Google Shape;531;p8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9"/>
          <p:cNvGrpSpPr/>
          <p:nvPr/>
        </p:nvGrpSpPr>
        <p:grpSpPr>
          <a:xfrm>
            <a:off x="822960" y="610076"/>
            <a:ext cx="16459200" cy="830104"/>
            <a:chOff x="0" y="-9525"/>
            <a:chExt cx="21945600" cy="1106805"/>
          </a:xfrm>
        </p:grpSpPr>
        <p:sp>
          <p:nvSpPr>
            <p:cNvPr id="541" name="Google Shape;541;p9"/>
            <p:cNvSpPr/>
            <p:nvPr/>
          </p:nvSpPr>
          <p:spPr>
            <a:xfrm>
              <a:off x="0" y="0"/>
              <a:ext cx="21945600" cy="1097280"/>
            </a:xfrm>
            <a:custGeom>
              <a:rect b="b" l="l" r="r" t="t"/>
              <a:pathLst>
                <a:path extrusionOk="0"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9712" l="0" r="0" t="-339712"/>
              </a:stretch>
            </a:blipFill>
            <a:ln>
              <a:noFill/>
            </a:ln>
          </p:spPr>
        </p:sp>
        <p:sp>
          <p:nvSpPr>
            <p:cNvPr id="542" name="Google Shape;542;p9"/>
            <p:cNvSpPr txBox="1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6. Planificación inicial del proyecto</a:t>
              </a:r>
              <a:endParaRPr/>
            </a:p>
          </p:txBody>
        </p:sp>
      </p:grpSp>
      <p:sp>
        <p:nvSpPr>
          <p:cNvPr id="543" name="Google Shape;543;p9"/>
          <p:cNvSpPr/>
          <p:nvPr/>
        </p:nvSpPr>
        <p:spPr>
          <a:xfrm>
            <a:off x="822960" y="2057400"/>
            <a:ext cx="3127248" cy="2606040"/>
          </a:xfrm>
          <a:custGeom>
            <a:rect b="b" l="l" r="r" t="t"/>
            <a:pathLst>
              <a:path extrusionOk="0" h="3474720" w="4169664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4041648" y="0"/>
                </a:lnTo>
                <a:cubicBezTo>
                  <a:pt x="4112387" y="0"/>
                  <a:pt x="4169664" y="57277"/>
                  <a:pt x="4169664" y="128016"/>
                </a:cubicBezTo>
                <a:lnTo>
                  <a:pt x="4169664" y="3346704"/>
                </a:lnTo>
                <a:cubicBezTo>
                  <a:pt x="4169664" y="3417443"/>
                  <a:pt x="4112387" y="3474720"/>
                  <a:pt x="4041648" y="3474720"/>
                </a:cubicBezTo>
                <a:lnTo>
                  <a:pt x="128016" y="3474720"/>
                </a:lnTo>
                <a:cubicBezTo>
                  <a:pt x="57277" y="3474720"/>
                  <a:pt x="0" y="3417443"/>
                  <a:pt x="0" y="3346704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4" name="Google Shape;544;p9"/>
          <p:cNvGrpSpPr/>
          <p:nvPr/>
        </p:nvGrpSpPr>
        <p:grpSpPr>
          <a:xfrm>
            <a:off x="1028700" y="2180273"/>
            <a:ext cx="822960" cy="700088"/>
            <a:chOff x="0" y="-19050"/>
            <a:chExt cx="1097280" cy="933450"/>
          </a:xfrm>
        </p:grpSpPr>
        <p:sp>
          <p:nvSpPr>
            <p:cNvPr id="545" name="Google Shape;545;p9"/>
            <p:cNvSpPr/>
            <p:nvPr/>
          </p:nvSpPr>
          <p:spPr>
            <a:xfrm>
              <a:off x="0" y="0"/>
              <a:ext cx="1097280" cy="914400"/>
            </a:xfrm>
            <a:custGeom>
              <a:rect b="b" l="l" r="r" t="t"/>
              <a:pathLst>
                <a:path extrusionOk="0"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6920" r="-56920" t="0"/>
              </a:stretch>
            </a:blipFill>
            <a:ln>
              <a:noFill/>
            </a:ln>
          </p:spPr>
        </p:sp>
        <p:sp>
          <p:nvSpPr>
            <p:cNvPr id="546" name="Google Shape;546;p9"/>
            <p:cNvSpPr txBox="1"/>
            <p:nvPr/>
          </p:nvSpPr>
          <p:spPr>
            <a:xfrm>
              <a:off x="0" y="-19050"/>
              <a:ext cx="10972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52B788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/>
            </a:p>
          </p:txBody>
        </p:sp>
      </p:grpSp>
      <p:sp>
        <p:nvSpPr>
          <p:cNvPr id="547" name="Google Shape;547;p9"/>
          <p:cNvSpPr txBox="1"/>
          <p:nvPr/>
        </p:nvSpPr>
        <p:spPr>
          <a:xfrm>
            <a:off x="1028700" y="2901315"/>
            <a:ext cx="271576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/>
          </a:p>
        </p:txBody>
      </p:sp>
      <p:sp>
        <p:nvSpPr>
          <p:cNvPr id="548" name="Google Shape;548;p9"/>
          <p:cNvSpPr txBox="1"/>
          <p:nvPr/>
        </p:nvSpPr>
        <p:spPr>
          <a:xfrm>
            <a:off x="1028700" y="3596640"/>
            <a:ext cx="2715768" cy="92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Requerimientos y reglas de negocio</a:t>
            </a: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3837813" y="3158871"/>
            <a:ext cx="403098" cy="403098"/>
          </a:xfrm>
          <a:custGeom>
            <a:rect b="b" l="l" r="r" t="t"/>
            <a:pathLst>
              <a:path extrusionOk="0" h="537464" w="537464">
                <a:moveTo>
                  <a:pt x="0" y="268732"/>
                </a:moveTo>
                <a:cubicBezTo>
                  <a:pt x="0" y="120269"/>
                  <a:pt x="120269" y="0"/>
                  <a:pt x="268732" y="0"/>
                </a:cubicBezTo>
                <a:cubicBezTo>
                  <a:pt x="417195" y="0"/>
                  <a:pt x="537464" y="120269"/>
                  <a:pt x="537464" y="268732"/>
                </a:cubicBezTo>
                <a:cubicBezTo>
                  <a:pt x="537464" y="417195"/>
                  <a:pt x="417195" y="537464"/>
                  <a:pt x="268732" y="537464"/>
                </a:cubicBezTo>
                <a:cubicBezTo>
                  <a:pt x="120269" y="537464"/>
                  <a:pt x="0" y="417195"/>
                  <a:pt x="0" y="26873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8E4D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0" name="Google Shape;550;p9"/>
          <p:cNvGrpSpPr/>
          <p:nvPr/>
        </p:nvGrpSpPr>
        <p:grpSpPr>
          <a:xfrm>
            <a:off x="3847338" y="3105245"/>
            <a:ext cx="384048" cy="419767"/>
            <a:chOff x="0" y="-47625"/>
            <a:chExt cx="512064" cy="559689"/>
          </a:xfrm>
        </p:grpSpPr>
        <p:sp>
          <p:nvSpPr>
            <p:cNvPr id="551" name="Google Shape;551;p9"/>
            <p:cNvSpPr/>
            <p:nvPr/>
          </p:nvSpPr>
          <p:spPr>
            <a:xfrm>
              <a:off x="0" y="0"/>
              <a:ext cx="512064" cy="512064"/>
            </a:xfrm>
            <a:custGeom>
              <a:rect b="b" l="l" r="r" t="t"/>
              <a:pathLst>
                <a:path extrusionOk="0"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52" name="Google Shape;552;p9"/>
            <p:cNvSpPr txBox="1"/>
            <p:nvPr/>
          </p:nvSpPr>
          <p:spPr>
            <a:xfrm>
              <a:off x="0" y="-47625"/>
              <a:ext cx="512064" cy="559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</p:grpSp>
      <p:sp>
        <p:nvSpPr>
          <p:cNvPr id="553" name="Google Shape;553;p9"/>
          <p:cNvSpPr/>
          <p:nvPr/>
        </p:nvSpPr>
        <p:spPr>
          <a:xfrm>
            <a:off x="4128516" y="2057400"/>
            <a:ext cx="3127248" cy="2606040"/>
          </a:xfrm>
          <a:custGeom>
            <a:rect b="b" l="l" r="r" t="t"/>
            <a:pathLst>
              <a:path extrusionOk="0" h="3474720" w="4169664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4041648" y="0"/>
                </a:lnTo>
                <a:cubicBezTo>
                  <a:pt x="4112387" y="0"/>
                  <a:pt x="4169664" y="57277"/>
                  <a:pt x="4169664" y="128016"/>
                </a:cubicBezTo>
                <a:lnTo>
                  <a:pt x="4169664" y="3346704"/>
                </a:lnTo>
                <a:cubicBezTo>
                  <a:pt x="4169664" y="3417443"/>
                  <a:pt x="4112387" y="3474720"/>
                  <a:pt x="4041648" y="3474720"/>
                </a:cubicBezTo>
                <a:lnTo>
                  <a:pt x="128016" y="3474720"/>
                </a:lnTo>
                <a:cubicBezTo>
                  <a:pt x="57277" y="3474720"/>
                  <a:pt x="0" y="3417443"/>
                  <a:pt x="0" y="3346704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9"/>
          <p:cNvGrpSpPr/>
          <p:nvPr/>
        </p:nvGrpSpPr>
        <p:grpSpPr>
          <a:xfrm>
            <a:off x="4334256" y="2180273"/>
            <a:ext cx="822960" cy="700088"/>
            <a:chOff x="0" y="-19050"/>
            <a:chExt cx="1097280" cy="933450"/>
          </a:xfrm>
        </p:grpSpPr>
        <p:sp>
          <p:nvSpPr>
            <p:cNvPr id="555" name="Google Shape;555;p9"/>
            <p:cNvSpPr/>
            <p:nvPr/>
          </p:nvSpPr>
          <p:spPr>
            <a:xfrm>
              <a:off x="0" y="0"/>
              <a:ext cx="1097280" cy="914400"/>
            </a:xfrm>
            <a:custGeom>
              <a:rect b="b" l="l" r="r" t="t"/>
              <a:pathLst>
                <a:path extrusionOk="0"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6920" r="-56920" t="0"/>
              </a:stretch>
            </a:blipFill>
            <a:ln>
              <a:noFill/>
            </a:ln>
          </p:spPr>
        </p:sp>
        <p:sp>
          <p:nvSpPr>
            <p:cNvPr id="556" name="Google Shape;556;p9"/>
            <p:cNvSpPr txBox="1"/>
            <p:nvPr/>
          </p:nvSpPr>
          <p:spPr>
            <a:xfrm>
              <a:off x="0" y="-19050"/>
              <a:ext cx="10972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/>
            </a:p>
          </p:txBody>
        </p:sp>
      </p:grpSp>
      <p:sp>
        <p:nvSpPr>
          <p:cNvPr id="557" name="Google Shape;557;p9"/>
          <p:cNvSpPr txBox="1"/>
          <p:nvPr/>
        </p:nvSpPr>
        <p:spPr>
          <a:xfrm>
            <a:off x="4334256" y="2901315"/>
            <a:ext cx="271576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/>
          </a:p>
        </p:txBody>
      </p:sp>
      <p:sp>
        <p:nvSpPr>
          <p:cNvPr id="558" name="Google Shape;558;p9"/>
          <p:cNvSpPr txBox="1"/>
          <p:nvPr/>
        </p:nvSpPr>
        <p:spPr>
          <a:xfrm>
            <a:off x="4334256" y="3596640"/>
            <a:ext cx="2715768" cy="92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2A22"/>
                </a:solidFill>
                <a:latin typeface="Calibri"/>
                <a:ea typeface="Calibri"/>
                <a:cs typeface="Calibri"/>
                <a:sym typeface="Calibri"/>
              </a:rPr>
              <a:t>Tareas, prioridades y riesgos</a:t>
            </a:r>
            <a:endParaRPr/>
          </a:p>
        </p:txBody>
      </p:sp>
      <p:sp>
        <p:nvSpPr>
          <p:cNvPr id="559" name="Google Shape;559;p9"/>
          <p:cNvSpPr/>
          <p:nvPr/>
        </p:nvSpPr>
        <p:spPr>
          <a:xfrm>
            <a:off x="7143369" y="3158871"/>
            <a:ext cx="403098" cy="403098"/>
          </a:xfrm>
          <a:custGeom>
            <a:rect b="b" l="l" r="r" t="t"/>
            <a:pathLst>
              <a:path extrusionOk="0" h="537464" w="537464">
                <a:moveTo>
                  <a:pt x="0" y="268732"/>
                </a:moveTo>
                <a:cubicBezTo>
                  <a:pt x="0" y="120269"/>
                  <a:pt x="120269" y="0"/>
                  <a:pt x="268732" y="0"/>
                </a:cubicBezTo>
                <a:cubicBezTo>
                  <a:pt x="417195" y="0"/>
                  <a:pt x="537464" y="120269"/>
                  <a:pt x="537464" y="268732"/>
                </a:cubicBezTo>
                <a:cubicBezTo>
                  <a:pt x="537464" y="417195"/>
                  <a:pt x="417195" y="537464"/>
                  <a:pt x="268732" y="537464"/>
                </a:cubicBezTo>
                <a:cubicBezTo>
                  <a:pt x="120269" y="537464"/>
                  <a:pt x="0" y="417195"/>
                  <a:pt x="0" y="26873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8E4D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0" name="Google Shape;560;p9"/>
          <p:cNvGrpSpPr/>
          <p:nvPr/>
        </p:nvGrpSpPr>
        <p:grpSpPr>
          <a:xfrm>
            <a:off x="7152894" y="3105245"/>
            <a:ext cx="384048" cy="419767"/>
            <a:chOff x="0" y="-47625"/>
            <a:chExt cx="512064" cy="559689"/>
          </a:xfrm>
        </p:grpSpPr>
        <p:sp>
          <p:nvSpPr>
            <p:cNvPr id="561" name="Google Shape;561;p9"/>
            <p:cNvSpPr/>
            <p:nvPr/>
          </p:nvSpPr>
          <p:spPr>
            <a:xfrm>
              <a:off x="0" y="0"/>
              <a:ext cx="512064" cy="512064"/>
            </a:xfrm>
            <a:custGeom>
              <a:rect b="b" l="l" r="r" t="t"/>
              <a:pathLst>
                <a:path extrusionOk="0"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62" name="Google Shape;562;p9"/>
            <p:cNvSpPr txBox="1"/>
            <p:nvPr/>
          </p:nvSpPr>
          <p:spPr>
            <a:xfrm>
              <a:off x="0" y="-47625"/>
              <a:ext cx="512064" cy="559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</p:grpSp>
      <p:sp>
        <p:nvSpPr>
          <p:cNvPr id="563" name="Google Shape;563;p9"/>
          <p:cNvSpPr/>
          <p:nvPr/>
        </p:nvSpPr>
        <p:spPr>
          <a:xfrm>
            <a:off x="7434072" y="2057400"/>
            <a:ext cx="3127248" cy="2606040"/>
          </a:xfrm>
          <a:custGeom>
            <a:rect b="b" l="l" r="r" t="t"/>
            <a:pathLst>
              <a:path extrusionOk="0" h="3474720" w="4169664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4041648" y="0"/>
                </a:lnTo>
                <a:cubicBezTo>
                  <a:pt x="4112387" y="0"/>
                  <a:pt x="4169664" y="57277"/>
                  <a:pt x="4169664" y="128016"/>
                </a:cubicBezTo>
                <a:lnTo>
                  <a:pt x="4169664" y="3346704"/>
                </a:lnTo>
                <a:cubicBezTo>
                  <a:pt x="4169664" y="3417443"/>
                  <a:pt x="4112387" y="3474720"/>
                  <a:pt x="4041648" y="3474720"/>
                </a:cubicBezTo>
                <a:lnTo>
                  <a:pt x="128016" y="3474720"/>
                </a:lnTo>
                <a:cubicBezTo>
                  <a:pt x="57277" y="3474720"/>
                  <a:pt x="0" y="3417443"/>
                  <a:pt x="0" y="3346704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4" name="Google Shape;564;p9"/>
          <p:cNvGrpSpPr/>
          <p:nvPr/>
        </p:nvGrpSpPr>
        <p:grpSpPr>
          <a:xfrm>
            <a:off x="7639812" y="2180273"/>
            <a:ext cx="822960" cy="700088"/>
            <a:chOff x="0" y="-19050"/>
            <a:chExt cx="1097280" cy="933450"/>
          </a:xfrm>
        </p:grpSpPr>
        <p:sp>
          <p:nvSpPr>
            <p:cNvPr id="565" name="Google Shape;565;p9"/>
            <p:cNvSpPr/>
            <p:nvPr/>
          </p:nvSpPr>
          <p:spPr>
            <a:xfrm>
              <a:off x="0" y="0"/>
              <a:ext cx="1097280" cy="914400"/>
            </a:xfrm>
            <a:custGeom>
              <a:rect b="b" l="l" r="r" t="t"/>
              <a:pathLst>
                <a:path extrusionOk="0"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6920" r="-56920" t="0"/>
              </a:stretch>
            </a:blipFill>
            <a:ln>
              <a:noFill/>
            </a:ln>
          </p:spPr>
        </p:sp>
        <p:sp>
          <p:nvSpPr>
            <p:cNvPr id="566" name="Google Shape;566;p9"/>
            <p:cNvSpPr txBox="1"/>
            <p:nvPr/>
          </p:nvSpPr>
          <p:spPr>
            <a:xfrm>
              <a:off x="0" y="-19050"/>
              <a:ext cx="10972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52B788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/>
            </a:p>
          </p:txBody>
        </p:sp>
      </p:grpSp>
      <p:sp>
        <p:nvSpPr>
          <p:cNvPr id="567" name="Google Shape;567;p9"/>
          <p:cNvSpPr txBox="1"/>
          <p:nvPr/>
        </p:nvSpPr>
        <p:spPr>
          <a:xfrm>
            <a:off x="7639812" y="2901315"/>
            <a:ext cx="271576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de pruebas</a:t>
            </a:r>
            <a:endParaRPr/>
          </a:p>
        </p:txBody>
      </p:sp>
      <p:sp>
        <p:nvSpPr>
          <p:cNvPr id="568" name="Google Shape;568;p9"/>
          <p:cNvSpPr txBox="1"/>
          <p:nvPr/>
        </p:nvSpPr>
        <p:spPr>
          <a:xfrm>
            <a:off x="7639812" y="3596640"/>
            <a:ext cx="2715768" cy="92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Criterios y casos de prueba</a:t>
            </a:r>
            <a:endParaRPr/>
          </a:p>
        </p:txBody>
      </p:sp>
      <p:sp>
        <p:nvSpPr>
          <p:cNvPr id="569" name="Google Shape;569;p9"/>
          <p:cNvSpPr/>
          <p:nvPr/>
        </p:nvSpPr>
        <p:spPr>
          <a:xfrm>
            <a:off x="10448925" y="3158871"/>
            <a:ext cx="403098" cy="403098"/>
          </a:xfrm>
          <a:custGeom>
            <a:rect b="b" l="l" r="r" t="t"/>
            <a:pathLst>
              <a:path extrusionOk="0" h="537464" w="537464">
                <a:moveTo>
                  <a:pt x="0" y="268732"/>
                </a:moveTo>
                <a:cubicBezTo>
                  <a:pt x="0" y="120269"/>
                  <a:pt x="120269" y="0"/>
                  <a:pt x="268732" y="0"/>
                </a:cubicBezTo>
                <a:cubicBezTo>
                  <a:pt x="417195" y="0"/>
                  <a:pt x="537464" y="120269"/>
                  <a:pt x="537464" y="268732"/>
                </a:cubicBezTo>
                <a:cubicBezTo>
                  <a:pt x="537464" y="417195"/>
                  <a:pt x="417195" y="537464"/>
                  <a:pt x="268732" y="537464"/>
                </a:cubicBezTo>
                <a:cubicBezTo>
                  <a:pt x="120269" y="537464"/>
                  <a:pt x="0" y="417195"/>
                  <a:pt x="0" y="26873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8E4D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0" name="Google Shape;570;p9"/>
          <p:cNvGrpSpPr/>
          <p:nvPr/>
        </p:nvGrpSpPr>
        <p:grpSpPr>
          <a:xfrm>
            <a:off x="10458450" y="3105245"/>
            <a:ext cx="384048" cy="419767"/>
            <a:chOff x="0" y="-47625"/>
            <a:chExt cx="512064" cy="559689"/>
          </a:xfrm>
        </p:grpSpPr>
        <p:sp>
          <p:nvSpPr>
            <p:cNvPr id="571" name="Google Shape;571;p9"/>
            <p:cNvSpPr/>
            <p:nvPr/>
          </p:nvSpPr>
          <p:spPr>
            <a:xfrm>
              <a:off x="0" y="0"/>
              <a:ext cx="512064" cy="512064"/>
            </a:xfrm>
            <a:custGeom>
              <a:rect b="b" l="l" r="r" t="t"/>
              <a:pathLst>
                <a:path extrusionOk="0"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72" name="Google Shape;572;p9"/>
            <p:cNvSpPr txBox="1"/>
            <p:nvPr/>
          </p:nvSpPr>
          <p:spPr>
            <a:xfrm>
              <a:off x="0" y="-47625"/>
              <a:ext cx="512064" cy="559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</p:grpSp>
      <p:sp>
        <p:nvSpPr>
          <p:cNvPr id="573" name="Google Shape;573;p9"/>
          <p:cNvSpPr/>
          <p:nvPr/>
        </p:nvSpPr>
        <p:spPr>
          <a:xfrm>
            <a:off x="10739628" y="2057400"/>
            <a:ext cx="3127248" cy="2606040"/>
          </a:xfrm>
          <a:custGeom>
            <a:rect b="b" l="l" r="r" t="t"/>
            <a:pathLst>
              <a:path extrusionOk="0" h="3474720" w="4169664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4041648" y="0"/>
                </a:lnTo>
                <a:cubicBezTo>
                  <a:pt x="4112387" y="0"/>
                  <a:pt x="4169664" y="57277"/>
                  <a:pt x="4169664" y="128016"/>
                </a:cubicBezTo>
                <a:lnTo>
                  <a:pt x="4169664" y="3346704"/>
                </a:lnTo>
                <a:cubicBezTo>
                  <a:pt x="4169664" y="3417443"/>
                  <a:pt x="4112387" y="3474720"/>
                  <a:pt x="4041648" y="3474720"/>
                </a:cubicBezTo>
                <a:lnTo>
                  <a:pt x="128016" y="3474720"/>
                </a:lnTo>
                <a:cubicBezTo>
                  <a:pt x="57277" y="3474720"/>
                  <a:pt x="0" y="3417443"/>
                  <a:pt x="0" y="3346704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4" name="Google Shape;574;p9"/>
          <p:cNvGrpSpPr/>
          <p:nvPr/>
        </p:nvGrpSpPr>
        <p:grpSpPr>
          <a:xfrm>
            <a:off x="10945368" y="2180273"/>
            <a:ext cx="822960" cy="700088"/>
            <a:chOff x="0" y="-19050"/>
            <a:chExt cx="1097280" cy="933450"/>
          </a:xfrm>
        </p:grpSpPr>
        <p:sp>
          <p:nvSpPr>
            <p:cNvPr id="575" name="Google Shape;575;p9"/>
            <p:cNvSpPr/>
            <p:nvPr/>
          </p:nvSpPr>
          <p:spPr>
            <a:xfrm>
              <a:off x="0" y="0"/>
              <a:ext cx="1097280" cy="914400"/>
            </a:xfrm>
            <a:custGeom>
              <a:rect b="b" l="l" r="r" t="t"/>
              <a:pathLst>
                <a:path extrusionOk="0"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6920" r="-56920" t="0"/>
              </a:stretch>
            </a:blipFill>
            <a:ln>
              <a:noFill/>
            </a:ln>
          </p:spPr>
        </p:sp>
        <p:sp>
          <p:nvSpPr>
            <p:cNvPr id="576" name="Google Shape;576;p9"/>
            <p:cNvSpPr txBox="1"/>
            <p:nvPr/>
          </p:nvSpPr>
          <p:spPr>
            <a:xfrm>
              <a:off x="0" y="-19050"/>
              <a:ext cx="10972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1B4332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  <a:endParaRPr/>
            </a:p>
          </p:txBody>
        </p:sp>
      </p:grpSp>
      <p:sp>
        <p:nvSpPr>
          <p:cNvPr id="577" name="Google Shape;577;p9"/>
          <p:cNvSpPr txBox="1"/>
          <p:nvPr/>
        </p:nvSpPr>
        <p:spPr>
          <a:xfrm>
            <a:off x="10945368" y="2901315"/>
            <a:ext cx="271576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e integración</a:t>
            </a:r>
            <a:endParaRPr/>
          </a:p>
        </p:txBody>
      </p:sp>
      <p:sp>
        <p:nvSpPr>
          <p:cNvPr id="578" name="Google Shape;578;p9"/>
          <p:cNvSpPr txBox="1"/>
          <p:nvPr/>
        </p:nvSpPr>
        <p:spPr>
          <a:xfrm>
            <a:off x="10945368" y="3596640"/>
            <a:ext cx="2715768" cy="92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2A22"/>
                </a:solidFill>
                <a:latin typeface="Calibri"/>
                <a:ea typeface="Calibri"/>
                <a:cs typeface="Calibri"/>
                <a:sym typeface="Calibri"/>
              </a:rPr>
              <a:t>Funcionalidades disponibles</a:t>
            </a:r>
            <a:endParaRPr/>
          </a:p>
        </p:txBody>
      </p:sp>
      <p:sp>
        <p:nvSpPr>
          <p:cNvPr id="579" name="Google Shape;579;p9"/>
          <p:cNvSpPr/>
          <p:nvPr/>
        </p:nvSpPr>
        <p:spPr>
          <a:xfrm>
            <a:off x="13754481" y="3158871"/>
            <a:ext cx="403098" cy="403098"/>
          </a:xfrm>
          <a:custGeom>
            <a:rect b="b" l="l" r="r" t="t"/>
            <a:pathLst>
              <a:path extrusionOk="0" h="537464" w="537464">
                <a:moveTo>
                  <a:pt x="0" y="268732"/>
                </a:moveTo>
                <a:cubicBezTo>
                  <a:pt x="0" y="120269"/>
                  <a:pt x="120269" y="0"/>
                  <a:pt x="268732" y="0"/>
                </a:cubicBezTo>
                <a:cubicBezTo>
                  <a:pt x="417195" y="0"/>
                  <a:pt x="537464" y="120269"/>
                  <a:pt x="537464" y="268732"/>
                </a:cubicBezTo>
                <a:cubicBezTo>
                  <a:pt x="537464" y="417195"/>
                  <a:pt x="417195" y="537464"/>
                  <a:pt x="268732" y="537464"/>
                </a:cubicBezTo>
                <a:cubicBezTo>
                  <a:pt x="120269" y="537464"/>
                  <a:pt x="0" y="417195"/>
                  <a:pt x="0" y="26873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8E4D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0" name="Google Shape;580;p9"/>
          <p:cNvGrpSpPr/>
          <p:nvPr/>
        </p:nvGrpSpPr>
        <p:grpSpPr>
          <a:xfrm>
            <a:off x="13764006" y="3105245"/>
            <a:ext cx="384048" cy="419767"/>
            <a:chOff x="0" y="-47625"/>
            <a:chExt cx="512064" cy="559689"/>
          </a:xfrm>
        </p:grpSpPr>
        <p:sp>
          <p:nvSpPr>
            <p:cNvPr id="581" name="Google Shape;581;p9"/>
            <p:cNvSpPr/>
            <p:nvPr/>
          </p:nvSpPr>
          <p:spPr>
            <a:xfrm>
              <a:off x="0" y="0"/>
              <a:ext cx="512064" cy="512064"/>
            </a:xfrm>
            <a:custGeom>
              <a:rect b="b" l="l" r="r" t="t"/>
              <a:pathLst>
                <a:path extrusionOk="0"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582" name="Google Shape;582;p9"/>
            <p:cNvSpPr txBox="1"/>
            <p:nvPr/>
          </p:nvSpPr>
          <p:spPr>
            <a:xfrm>
              <a:off x="0" y="-47625"/>
              <a:ext cx="512064" cy="559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</p:grpSp>
      <p:sp>
        <p:nvSpPr>
          <p:cNvPr id="583" name="Google Shape;583;p9"/>
          <p:cNvSpPr/>
          <p:nvPr/>
        </p:nvSpPr>
        <p:spPr>
          <a:xfrm>
            <a:off x="14045184" y="2057400"/>
            <a:ext cx="3127248" cy="2606040"/>
          </a:xfrm>
          <a:custGeom>
            <a:rect b="b" l="l" r="r" t="t"/>
            <a:pathLst>
              <a:path extrusionOk="0" h="3474720" w="4169664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4041648" y="0"/>
                </a:lnTo>
                <a:cubicBezTo>
                  <a:pt x="4112387" y="0"/>
                  <a:pt x="4169664" y="57277"/>
                  <a:pt x="4169664" y="128016"/>
                </a:cubicBezTo>
                <a:lnTo>
                  <a:pt x="4169664" y="3346704"/>
                </a:lnTo>
                <a:cubicBezTo>
                  <a:pt x="4169664" y="3417443"/>
                  <a:pt x="4112387" y="3474720"/>
                  <a:pt x="4041648" y="3474720"/>
                </a:cubicBezTo>
                <a:lnTo>
                  <a:pt x="128016" y="3474720"/>
                </a:lnTo>
                <a:cubicBezTo>
                  <a:pt x="57277" y="3474720"/>
                  <a:pt x="0" y="3417443"/>
                  <a:pt x="0" y="3346704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4" name="Google Shape;584;p9"/>
          <p:cNvGrpSpPr/>
          <p:nvPr/>
        </p:nvGrpSpPr>
        <p:grpSpPr>
          <a:xfrm>
            <a:off x="14250924" y="2180273"/>
            <a:ext cx="822960" cy="700088"/>
            <a:chOff x="0" y="-19050"/>
            <a:chExt cx="1097280" cy="933450"/>
          </a:xfrm>
        </p:grpSpPr>
        <p:sp>
          <p:nvSpPr>
            <p:cNvPr id="585" name="Google Shape;585;p9"/>
            <p:cNvSpPr/>
            <p:nvPr/>
          </p:nvSpPr>
          <p:spPr>
            <a:xfrm>
              <a:off x="0" y="0"/>
              <a:ext cx="1097280" cy="914400"/>
            </a:xfrm>
            <a:custGeom>
              <a:rect b="b" l="l" r="r" t="t"/>
              <a:pathLst>
                <a:path extrusionOk="0"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6920" r="-56920" t="0"/>
              </a:stretch>
            </a:blipFill>
            <a:ln>
              <a:noFill/>
            </a:ln>
          </p:spPr>
        </p:sp>
        <p:sp>
          <p:nvSpPr>
            <p:cNvPr id="586" name="Google Shape;586;p9"/>
            <p:cNvSpPr txBox="1"/>
            <p:nvPr/>
          </p:nvSpPr>
          <p:spPr>
            <a:xfrm>
              <a:off x="0" y="-19050"/>
              <a:ext cx="10972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52B788"/>
                  </a:solidFill>
                  <a:latin typeface="Cambria"/>
                  <a:ea typeface="Cambria"/>
                  <a:cs typeface="Cambria"/>
                  <a:sym typeface="Cambria"/>
                </a:rPr>
                <a:t>5</a:t>
              </a:r>
              <a:endParaRPr/>
            </a:p>
          </p:txBody>
        </p:sp>
      </p:grpSp>
      <p:sp>
        <p:nvSpPr>
          <p:cNvPr id="587" name="Google Shape;587;p9"/>
          <p:cNvSpPr txBox="1"/>
          <p:nvPr/>
        </p:nvSpPr>
        <p:spPr>
          <a:xfrm>
            <a:off x="14250924" y="2901315"/>
            <a:ext cx="271576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funcional y API</a:t>
            </a:r>
            <a:endParaRPr/>
          </a:p>
        </p:txBody>
      </p:sp>
      <p:sp>
        <p:nvSpPr>
          <p:cNvPr id="588" name="Google Shape;588;p9"/>
          <p:cNvSpPr txBox="1"/>
          <p:nvPr/>
        </p:nvSpPr>
        <p:spPr>
          <a:xfrm>
            <a:off x="14250924" y="3596640"/>
            <a:ext cx="2715768" cy="92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Resultados de pruebas</a:t>
            </a:r>
            <a:endParaRPr/>
          </a:p>
        </p:txBody>
      </p:sp>
      <p:grpSp>
        <p:nvGrpSpPr>
          <p:cNvPr id="589" name="Google Shape;589;p9"/>
          <p:cNvGrpSpPr/>
          <p:nvPr/>
        </p:nvGrpSpPr>
        <p:grpSpPr>
          <a:xfrm>
            <a:off x="822960" y="5107781"/>
            <a:ext cx="16459200" cy="515779"/>
            <a:chOff x="0" y="-47625"/>
            <a:chExt cx="21945600" cy="687705"/>
          </a:xfrm>
        </p:grpSpPr>
        <p:sp>
          <p:nvSpPr>
            <p:cNvPr id="590" name="Google Shape;590;p9"/>
            <p:cNvSpPr/>
            <p:nvPr/>
          </p:nvSpPr>
          <p:spPr>
            <a:xfrm>
              <a:off x="0" y="0"/>
              <a:ext cx="21945600" cy="640080"/>
            </a:xfrm>
            <a:custGeom>
              <a:rect b="b" l="l" r="r" t="t"/>
              <a:pathLst>
                <a:path extrusionOk="0"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8092" l="0" r="0" t="-618092"/>
              </a:stretch>
            </a:blipFill>
            <a:ln>
              <a:noFill/>
            </a:ln>
          </p:spPr>
        </p:sp>
        <p:sp>
          <p:nvSpPr>
            <p:cNvPr id="591" name="Google Shape;591;p9"/>
            <p:cNvSpPr txBox="1"/>
            <p:nvPr/>
          </p:nvSpPr>
          <p:spPr>
            <a:xfrm>
              <a:off x="0" y="-47625"/>
              <a:ext cx="21945600" cy="68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1B4332"/>
                  </a:solidFill>
                  <a:latin typeface="Calibri"/>
                  <a:ea typeface="Calibri"/>
                  <a:cs typeface="Calibri"/>
                  <a:sym typeface="Calibri"/>
                </a:rPr>
                <a:t>Carta Gantt — visión general del semestre (Fases 1, 2 y 3)</a:t>
              </a:r>
              <a:endParaRPr/>
            </a:p>
          </p:txBody>
        </p:sp>
      </p:grpSp>
      <p:sp>
        <p:nvSpPr>
          <p:cNvPr id="592" name="Google Shape;592;p9"/>
          <p:cNvSpPr/>
          <p:nvPr/>
        </p:nvSpPr>
        <p:spPr>
          <a:xfrm>
            <a:off x="5760720" y="5897880"/>
            <a:ext cx="1295400" cy="3525012"/>
          </a:xfrm>
          <a:custGeom>
            <a:rect b="b" l="l" r="r" t="t"/>
            <a:pathLst>
              <a:path extrusionOk="0" h="4700016" w="1727200">
                <a:moveTo>
                  <a:pt x="0" y="0"/>
                </a:moveTo>
                <a:lnTo>
                  <a:pt x="1727200" y="0"/>
                </a:lnTo>
                <a:lnTo>
                  <a:pt x="1727200" y="4700016"/>
                </a:lnTo>
                <a:lnTo>
                  <a:pt x="0" y="4700016"/>
                </a:lnTo>
                <a:close/>
              </a:path>
            </a:pathLst>
          </a:custGeom>
          <a:solidFill>
            <a:srgbClr val="FDEEEE"/>
          </a:solidFill>
          <a:ln>
            <a:noFill/>
          </a:ln>
        </p:spPr>
      </p:sp>
      <p:grpSp>
        <p:nvGrpSpPr>
          <p:cNvPr id="593" name="Google Shape;593;p9"/>
          <p:cNvGrpSpPr/>
          <p:nvPr/>
        </p:nvGrpSpPr>
        <p:grpSpPr>
          <a:xfrm>
            <a:off x="822960" y="5952173"/>
            <a:ext cx="4800600" cy="521779"/>
            <a:chOff x="0" y="-19050"/>
            <a:chExt cx="6400800" cy="695706"/>
          </a:xfrm>
        </p:grpSpPr>
        <p:sp>
          <p:nvSpPr>
            <p:cNvPr id="594" name="Google Shape;594;p9"/>
            <p:cNvSpPr/>
            <p:nvPr/>
          </p:nvSpPr>
          <p:spPr>
            <a:xfrm>
              <a:off x="0" y="0"/>
              <a:ext cx="6400800" cy="676656"/>
            </a:xfrm>
            <a:custGeom>
              <a:rect b="b" l="l" r="r" t="t"/>
              <a:pathLst>
                <a:path extrusionOk="0" h="6766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76656"/>
                  </a:lnTo>
                  <a:lnTo>
                    <a:pt x="0" y="6766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4311" l="0" r="0" t="-134311"/>
              </a:stretch>
            </a:blipFill>
            <a:ln>
              <a:noFill/>
            </a:ln>
          </p:spPr>
        </p:sp>
        <p:sp>
          <p:nvSpPr>
            <p:cNvPr id="595" name="Google Shape;595;p9"/>
            <p:cNvSpPr txBox="1"/>
            <p:nvPr/>
          </p:nvSpPr>
          <p:spPr>
            <a:xfrm>
              <a:off x="0" y="-19050"/>
              <a:ext cx="6400800" cy="695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Levantamiento y análisis</a:t>
              </a:r>
              <a:endParaRPr/>
            </a:p>
          </p:txBody>
        </p:sp>
      </p:grpSp>
      <p:sp>
        <p:nvSpPr>
          <p:cNvPr id="596" name="Google Shape;596;p9"/>
          <p:cNvSpPr/>
          <p:nvPr/>
        </p:nvSpPr>
        <p:spPr>
          <a:xfrm>
            <a:off x="5760720" y="6035040"/>
            <a:ext cx="1295400" cy="370332"/>
          </a:xfrm>
          <a:custGeom>
            <a:rect b="b" l="l" r="r" t="t"/>
            <a:pathLst>
              <a:path extrusionOk="0" h="493776" w="172720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1672336" y="0"/>
                </a:lnTo>
                <a:cubicBezTo>
                  <a:pt x="1702689" y="0"/>
                  <a:pt x="1727200" y="24511"/>
                  <a:pt x="1727200" y="54864"/>
                </a:cubicBezTo>
                <a:lnTo>
                  <a:pt x="1727200" y="438912"/>
                </a:lnTo>
                <a:cubicBezTo>
                  <a:pt x="1727200" y="469265"/>
                  <a:pt x="1702689" y="493776"/>
                  <a:pt x="1672336" y="493776"/>
                </a:cubicBezTo>
                <a:lnTo>
                  <a:pt x="54864" y="493776"/>
                </a:lnTo>
                <a:cubicBezTo>
                  <a:pt x="24511" y="493776"/>
                  <a:pt x="0" y="469265"/>
                  <a:pt x="0" y="438912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9"/>
          <p:cNvGrpSpPr/>
          <p:nvPr/>
        </p:nvGrpSpPr>
        <p:grpSpPr>
          <a:xfrm>
            <a:off x="822960" y="6528244"/>
            <a:ext cx="4800600" cy="521780"/>
            <a:chOff x="0" y="-19050"/>
            <a:chExt cx="6400800" cy="695706"/>
          </a:xfrm>
        </p:grpSpPr>
        <p:sp>
          <p:nvSpPr>
            <p:cNvPr id="598" name="Google Shape;598;p9"/>
            <p:cNvSpPr/>
            <p:nvPr/>
          </p:nvSpPr>
          <p:spPr>
            <a:xfrm>
              <a:off x="0" y="0"/>
              <a:ext cx="6400800" cy="676656"/>
            </a:xfrm>
            <a:custGeom>
              <a:rect b="b" l="l" r="r" t="t"/>
              <a:pathLst>
                <a:path extrusionOk="0" h="6766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76656"/>
                  </a:lnTo>
                  <a:lnTo>
                    <a:pt x="0" y="6766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4311" l="0" r="0" t="-134311"/>
              </a:stretch>
            </a:blipFill>
            <a:ln>
              <a:noFill/>
            </a:ln>
          </p:spPr>
        </p:sp>
        <p:sp>
          <p:nvSpPr>
            <p:cNvPr id="599" name="Google Shape;599;p9"/>
            <p:cNvSpPr txBox="1"/>
            <p:nvPr/>
          </p:nvSpPr>
          <p:spPr>
            <a:xfrm>
              <a:off x="0" y="-19050"/>
              <a:ext cx="6400800" cy="695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Definición de criterios y planificación</a:t>
              </a:r>
              <a:endParaRPr/>
            </a:p>
          </p:txBody>
        </p:sp>
      </p:grpSp>
      <p:sp>
        <p:nvSpPr>
          <p:cNvPr id="600" name="Google Shape;600;p9"/>
          <p:cNvSpPr/>
          <p:nvPr/>
        </p:nvSpPr>
        <p:spPr>
          <a:xfrm>
            <a:off x="7056120" y="6611112"/>
            <a:ext cx="647700" cy="370332"/>
          </a:xfrm>
          <a:custGeom>
            <a:rect b="b" l="l" r="r" t="t"/>
            <a:pathLst>
              <a:path extrusionOk="0" h="493776" w="86360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808736" y="0"/>
                </a:lnTo>
                <a:cubicBezTo>
                  <a:pt x="839089" y="0"/>
                  <a:pt x="863600" y="24511"/>
                  <a:pt x="863600" y="54864"/>
                </a:cubicBezTo>
                <a:lnTo>
                  <a:pt x="863600" y="438912"/>
                </a:lnTo>
                <a:cubicBezTo>
                  <a:pt x="863600" y="469265"/>
                  <a:pt x="839089" y="493776"/>
                  <a:pt x="808736" y="493776"/>
                </a:cubicBezTo>
                <a:lnTo>
                  <a:pt x="54864" y="493776"/>
                </a:lnTo>
                <a:cubicBezTo>
                  <a:pt x="24511" y="493776"/>
                  <a:pt x="0" y="469265"/>
                  <a:pt x="0" y="438912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1" name="Google Shape;601;p9"/>
          <p:cNvGrpSpPr/>
          <p:nvPr/>
        </p:nvGrpSpPr>
        <p:grpSpPr>
          <a:xfrm>
            <a:off x="822960" y="7104317"/>
            <a:ext cx="4800600" cy="521779"/>
            <a:chOff x="0" y="-19050"/>
            <a:chExt cx="6400800" cy="695706"/>
          </a:xfrm>
        </p:grpSpPr>
        <p:sp>
          <p:nvSpPr>
            <p:cNvPr id="602" name="Google Shape;602;p9"/>
            <p:cNvSpPr/>
            <p:nvPr/>
          </p:nvSpPr>
          <p:spPr>
            <a:xfrm>
              <a:off x="0" y="0"/>
              <a:ext cx="6400800" cy="676656"/>
            </a:xfrm>
            <a:custGeom>
              <a:rect b="b" l="l" r="r" t="t"/>
              <a:pathLst>
                <a:path extrusionOk="0" h="6766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76656"/>
                  </a:lnTo>
                  <a:lnTo>
                    <a:pt x="0" y="6766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4311" l="0" r="0" t="-134311"/>
              </a:stretch>
            </a:blipFill>
            <a:ln>
              <a:noFill/>
            </a:ln>
          </p:spPr>
        </p:sp>
        <p:sp>
          <p:nvSpPr>
            <p:cNvPr id="603" name="Google Shape;603;p9"/>
            <p:cNvSpPr txBox="1"/>
            <p:nvPr/>
          </p:nvSpPr>
          <p:spPr>
            <a:xfrm>
              <a:off x="0" y="-19050"/>
              <a:ext cx="6400800" cy="695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Diseño de casos de prueba</a:t>
              </a:r>
              <a:endParaRPr/>
            </a:p>
          </p:txBody>
        </p:sp>
      </p:grpSp>
      <p:sp>
        <p:nvSpPr>
          <p:cNvPr id="604" name="Google Shape;604;p9"/>
          <p:cNvSpPr/>
          <p:nvPr/>
        </p:nvSpPr>
        <p:spPr>
          <a:xfrm>
            <a:off x="7703820" y="7187184"/>
            <a:ext cx="1295400" cy="370332"/>
          </a:xfrm>
          <a:custGeom>
            <a:rect b="b" l="l" r="r" t="t"/>
            <a:pathLst>
              <a:path extrusionOk="0" h="493776" w="172720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1672336" y="0"/>
                </a:lnTo>
                <a:cubicBezTo>
                  <a:pt x="1702689" y="0"/>
                  <a:pt x="1727200" y="24511"/>
                  <a:pt x="1727200" y="54864"/>
                </a:cubicBezTo>
                <a:lnTo>
                  <a:pt x="1727200" y="438912"/>
                </a:lnTo>
                <a:cubicBezTo>
                  <a:pt x="1727200" y="469265"/>
                  <a:pt x="1702689" y="493776"/>
                  <a:pt x="1672336" y="493776"/>
                </a:cubicBezTo>
                <a:lnTo>
                  <a:pt x="54864" y="493776"/>
                </a:lnTo>
                <a:cubicBezTo>
                  <a:pt x="24511" y="493776"/>
                  <a:pt x="0" y="469265"/>
                  <a:pt x="0" y="438912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5" name="Google Shape;605;p9"/>
          <p:cNvGrpSpPr/>
          <p:nvPr/>
        </p:nvGrpSpPr>
        <p:grpSpPr>
          <a:xfrm>
            <a:off x="822960" y="7680389"/>
            <a:ext cx="4800600" cy="521779"/>
            <a:chOff x="0" y="-19050"/>
            <a:chExt cx="6400800" cy="695706"/>
          </a:xfrm>
        </p:grpSpPr>
        <p:sp>
          <p:nvSpPr>
            <p:cNvPr id="606" name="Google Shape;606;p9"/>
            <p:cNvSpPr/>
            <p:nvPr/>
          </p:nvSpPr>
          <p:spPr>
            <a:xfrm>
              <a:off x="0" y="0"/>
              <a:ext cx="6400800" cy="676656"/>
            </a:xfrm>
            <a:custGeom>
              <a:rect b="b" l="l" r="r" t="t"/>
              <a:pathLst>
                <a:path extrusionOk="0" h="6766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76656"/>
                  </a:lnTo>
                  <a:lnTo>
                    <a:pt x="0" y="6766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4311" l="0" r="0" t="-134311"/>
              </a:stretch>
            </a:blipFill>
            <a:ln>
              <a:noFill/>
            </a:ln>
          </p:spPr>
        </p:sp>
        <p:sp>
          <p:nvSpPr>
            <p:cNvPr id="607" name="Google Shape;607;p9"/>
            <p:cNvSpPr txBox="1"/>
            <p:nvPr/>
          </p:nvSpPr>
          <p:spPr>
            <a:xfrm>
              <a:off x="0" y="-19050"/>
              <a:ext cx="6400800" cy="695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Pruebas API / motor de reglas</a:t>
              </a:r>
              <a:endParaRPr/>
            </a:p>
          </p:txBody>
        </p:sp>
      </p:grpSp>
      <p:sp>
        <p:nvSpPr>
          <p:cNvPr id="608" name="Google Shape;608;p9"/>
          <p:cNvSpPr/>
          <p:nvPr/>
        </p:nvSpPr>
        <p:spPr>
          <a:xfrm>
            <a:off x="8999220" y="7763256"/>
            <a:ext cx="2590800" cy="370332"/>
          </a:xfrm>
          <a:custGeom>
            <a:rect b="b" l="l" r="r" t="t"/>
            <a:pathLst>
              <a:path extrusionOk="0" h="493776" w="345440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3399536" y="0"/>
                </a:lnTo>
                <a:cubicBezTo>
                  <a:pt x="3429889" y="0"/>
                  <a:pt x="3454400" y="24511"/>
                  <a:pt x="3454400" y="54864"/>
                </a:cubicBezTo>
                <a:lnTo>
                  <a:pt x="3454400" y="438912"/>
                </a:lnTo>
                <a:cubicBezTo>
                  <a:pt x="3454400" y="469265"/>
                  <a:pt x="3429889" y="493776"/>
                  <a:pt x="3399536" y="493776"/>
                </a:cubicBezTo>
                <a:lnTo>
                  <a:pt x="54864" y="493776"/>
                </a:lnTo>
                <a:cubicBezTo>
                  <a:pt x="24511" y="493776"/>
                  <a:pt x="0" y="469265"/>
                  <a:pt x="0" y="438912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9"/>
          <p:cNvGrpSpPr/>
          <p:nvPr/>
        </p:nvGrpSpPr>
        <p:grpSpPr>
          <a:xfrm>
            <a:off x="822960" y="8256461"/>
            <a:ext cx="4800600" cy="521779"/>
            <a:chOff x="0" y="-19050"/>
            <a:chExt cx="6400800" cy="695706"/>
          </a:xfrm>
        </p:grpSpPr>
        <p:sp>
          <p:nvSpPr>
            <p:cNvPr id="610" name="Google Shape;610;p9"/>
            <p:cNvSpPr/>
            <p:nvPr/>
          </p:nvSpPr>
          <p:spPr>
            <a:xfrm>
              <a:off x="0" y="0"/>
              <a:ext cx="6400800" cy="676656"/>
            </a:xfrm>
            <a:custGeom>
              <a:rect b="b" l="l" r="r" t="t"/>
              <a:pathLst>
                <a:path extrusionOk="0" h="6766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76656"/>
                  </a:lnTo>
                  <a:lnTo>
                    <a:pt x="0" y="6766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4311" l="0" r="0" t="-134311"/>
              </a:stretch>
            </a:blipFill>
            <a:ln>
              <a:noFill/>
            </a:ln>
          </p:spPr>
        </p:sp>
        <p:sp>
          <p:nvSpPr>
            <p:cNvPr id="611" name="Google Shape;611;p9"/>
            <p:cNvSpPr txBox="1"/>
            <p:nvPr/>
          </p:nvSpPr>
          <p:spPr>
            <a:xfrm>
              <a:off x="0" y="-19050"/>
              <a:ext cx="6400800" cy="695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y corrección de errores</a:t>
              </a:r>
              <a:endParaRPr/>
            </a:p>
          </p:txBody>
        </p:sp>
      </p:grpSp>
      <p:sp>
        <p:nvSpPr>
          <p:cNvPr id="612" name="Google Shape;612;p9"/>
          <p:cNvSpPr/>
          <p:nvPr/>
        </p:nvSpPr>
        <p:spPr>
          <a:xfrm>
            <a:off x="11590020" y="8339328"/>
            <a:ext cx="1943100" cy="370332"/>
          </a:xfrm>
          <a:custGeom>
            <a:rect b="b" l="l" r="r" t="t"/>
            <a:pathLst>
              <a:path extrusionOk="0" h="493776" w="259080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2535936" y="0"/>
                </a:lnTo>
                <a:cubicBezTo>
                  <a:pt x="2566289" y="0"/>
                  <a:pt x="2590800" y="24511"/>
                  <a:pt x="2590800" y="54864"/>
                </a:cubicBezTo>
                <a:lnTo>
                  <a:pt x="2590800" y="438912"/>
                </a:lnTo>
                <a:cubicBezTo>
                  <a:pt x="2590800" y="469265"/>
                  <a:pt x="2566289" y="493776"/>
                  <a:pt x="2535936" y="493776"/>
                </a:cubicBezTo>
                <a:lnTo>
                  <a:pt x="54864" y="493776"/>
                </a:lnTo>
                <a:cubicBezTo>
                  <a:pt x="24511" y="493776"/>
                  <a:pt x="0" y="469265"/>
                  <a:pt x="0" y="438912"/>
                </a:cubicBezTo>
                <a:close/>
              </a:path>
            </a:pathLst>
          </a:cu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" name="Google Shape;613;p9"/>
          <p:cNvGrpSpPr/>
          <p:nvPr/>
        </p:nvGrpSpPr>
        <p:grpSpPr>
          <a:xfrm>
            <a:off x="822960" y="8832533"/>
            <a:ext cx="4800600" cy="521779"/>
            <a:chOff x="0" y="-19050"/>
            <a:chExt cx="6400800" cy="695706"/>
          </a:xfrm>
        </p:grpSpPr>
        <p:sp>
          <p:nvSpPr>
            <p:cNvPr id="614" name="Google Shape;614;p9"/>
            <p:cNvSpPr/>
            <p:nvPr/>
          </p:nvSpPr>
          <p:spPr>
            <a:xfrm>
              <a:off x="0" y="0"/>
              <a:ext cx="6400800" cy="676656"/>
            </a:xfrm>
            <a:custGeom>
              <a:rect b="b" l="l" r="r" t="t"/>
              <a:pathLst>
                <a:path extrusionOk="0" h="6766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76656"/>
                  </a:lnTo>
                  <a:lnTo>
                    <a:pt x="0" y="6766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4311" l="0" r="0" t="-134311"/>
              </a:stretch>
            </a:blipFill>
            <a:ln>
              <a:noFill/>
            </a:ln>
          </p:spPr>
        </p:sp>
        <p:sp>
          <p:nvSpPr>
            <p:cNvPr id="615" name="Google Shape;615;p9"/>
            <p:cNvSpPr txBox="1"/>
            <p:nvPr/>
          </p:nvSpPr>
          <p:spPr>
            <a:xfrm>
              <a:off x="0" y="-19050"/>
              <a:ext cx="6400800" cy="695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1D2B27"/>
                  </a:solidFill>
                  <a:latin typeface="Calibri"/>
                  <a:ea typeface="Calibri"/>
                  <a:cs typeface="Calibri"/>
                  <a:sym typeface="Calibri"/>
                </a:rPr>
                <a:t>Regresión y evaluación de resultados</a:t>
              </a:r>
              <a:endParaRPr/>
            </a:p>
          </p:txBody>
        </p:sp>
      </p:grpSp>
      <p:sp>
        <p:nvSpPr>
          <p:cNvPr id="616" name="Google Shape;616;p9"/>
          <p:cNvSpPr/>
          <p:nvPr/>
        </p:nvSpPr>
        <p:spPr>
          <a:xfrm>
            <a:off x="15476220" y="8915400"/>
            <a:ext cx="1295400" cy="370332"/>
          </a:xfrm>
          <a:custGeom>
            <a:rect b="b" l="l" r="r" t="t"/>
            <a:pathLst>
              <a:path extrusionOk="0" h="493776" w="172720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1672336" y="0"/>
                </a:lnTo>
                <a:cubicBezTo>
                  <a:pt x="1702689" y="0"/>
                  <a:pt x="1727200" y="24511"/>
                  <a:pt x="1727200" y="54864"/>
                </a:cubicBezTo>
                <a:lnTo>
                  <a:pt x="1727200" y="438912"/>
                </a:lnTo>
                <a:cubicBezTo>
                  <a:pt x="1727200" y="469265"/>
                  <a:pt x="1702689" y="493776"/>
                  <a:pt x="1672336" y="493776"/>
                </a:cubicBezTo>
                <a:lnTo>
                  <a:pt x="54864" y="493776"/>
                </a:lnTo>
                <a:cubicBezTo>
                  <a:pt x="24511" y="493776"/>
                  <a:pt x="0" y="469265"/>
                  <a:pt x="0" y="438912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9"/>
          <p:cNvGrpSpPr/>
          <p:nvPr/>
        </p:nvGrpSpPr>
        <p:grpSpPr>
          <a:xfrm>
            <a:off x="5760720" y="9470041"/>
            <a:ext cx="2057400" cy="364331"/>
            <a:chOff x="0" y="-28575"/>
            <a:chExt cx="2743200" cy="485775"/>
          </a:xfrm>
        </p:grpSpPr>
        <p:sp>
          <p:nvSpPr>
            <p:cNvPr id="618" name="Google Shape;618;p9"/>
            <p:cNvSpPr/>
            <p:nvPr/>
          </p:nvSpPr>
          <p:spPr>
            <a:xfrm>
              <a:off x="0" y="0"/>
              <a:ext cx="2743200" cy="457200"/>
            </a:xfrm>
            <a:custGeom>
              <a:rect b="b" l="l" r="r" t="t"/>
              <a:pathLst>
                <a:path extrusionOk="0" h="457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</p:sp>
        <p:sp>
          <p:nvSpPr>
            <p:cNvPr id="619" name="Google Shape;619;p9"/>
            <p:cNvSpPr txBox="1"/>
            <p:nvPr/>
          </p:nvSpPr>
          <p:spPr>
            <a:xfrm>
              <a:off x="0" y="-28575"/>
              <a:ext cx="2743200" cy="485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Semana 1</a:t>
              </a:r>
              <a:endParaRPr/>
            </a:p>
          </p:txBody>
        </p:sp>
      </p:grpSp>
      <p:grpSp>
        <p:nvGrpSpPr>
          <p:cNvPr id="620" name="Google Shape;620;p9"/>
          <p:cNvGrpSpPr/>
          <p:nvPr/>
        </p:nvGrpSpPr>
        <p:grpSpPr>
          <a:xfrm>
            <a:off x="15361920" y="9470041"/>
            <a:ext cx="2057400" cy="364331"/>
            <a:chOff x="0" y="-28575"/>
            <a:chExt cx="2743200" cy="485775"/>
          </a:xfrm>
        </p:grpSpPr>
        <p:sp>
          <p:nvSpPr>
            <p:cNvPr id="621" name="Google Shape;621;p9"/>
            <p:cNvSpPr/>
            <p:nvPr/>
          </p:nvSpPr>
          <p:spPr>
            <a:xfrm>
              <a:off x="0" y="0"/>
              <a:ext cx="2743200" cy="457200"/>
            </a:xfrm>
            <a:custGeom>
              <a:rect b="b" l="l" r="r" t="t"/>
              <a:pathLst>
                <a:path extrusionOk="0" h="457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</p:sp>
        <p:sp>
          <p:nvSpPr>
            <p:cNvPr id="622" name="Google Shape;622;p9"/>
            <p:cNvSpPr txBox="1"/>
            <p:nvPr/>
          </p:nvSpPr>
          <p:spPr>
            <a:xfrm>
              <a:off x="0" y="-28575"/>
              <a:ext cx="2743200" cy="485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Semana 18</a:t>
              </a:r>
              <a:endParaRPr/>
            </a:p>
          </p:txBody>
        </p:sp>
      </p:grpSp>
      <p:grpSp>
        <p:nvGrpSpPr>
          <p:cNvPr id="623" name="Google Shape;623;p9"/>
          <p:cNvGrpSpPr/>
          <p:nvPr/>
        </p:nvGrpSpPr>
        <p:grpSpPr>
          <a:xfrm>
            <a:off x="14676120" y="5498973"/>
            <a:ext cx="2743200" cy="371475"/>
            <a:chOff x="0" y="-38100"/>
            <a:chExt cx="3657600" cy="495300"/>
          </a:xfrm>
        </p:grpSpPr>
        <p:sp>
          <p:nvSpPr>
            <p:cNvPr id="624" name="Google Shape;624;p9"/>
            <p:cNvSpPr/>
            <p:nvPr/>
          </p:nvSpPr>
          <p:spPr>
            <a:xfrm>
              <a:off x="0" y="0"/>
              <a:ext cx="3657600" cy="457200"/>
            </a:xfrm>
            <a:custGeom>
              <a:rect b="b" l="l" r="r" t="t"/>
              <a:pathLst>
                <a:path extrusionOk="0"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880" l="0" r="0" t="-105880"/>
              </a:stretch>
            </a:blipFill>
            <a:ln>
              <a:noFill/>
            </a:ln>
          </p:spPr>
        </p:sp>
        <p:sp>
          <p:nvSpPr>
            <p:cNvPr id="625" name="Google Shape;625;p9"/>
            <p:cNvSpPr txBox="1"/>
            <p:nvPr/>
          </p:nvSpPr>
          <p:spPr>
            <a:xfrm>
              <a:off x="0" y="-38100"/>
              <a:ext cx="3657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E63946"/>
                  </a:solidFill>
                  <a:latin typeface="Calibri"/>
                  <a:ea typeface="Calibri"/>
                  <a:cs typeface="Calibri"/>
                  <a:sym typeface="Calibri"/>
                </a:rPr>
                <a:t>Fase 1 (actual)</a:t>
              </a:r>
              <a:endParaRPr/>
            </a:p>
          </p:txBody>
        </p:sp>
      </p:grpSp>
      <p:grpSp>
        <p:nvGrpSpPr>
          <p:cNvPr id="626" name="Google Shape;626;p9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627" name="Google Shape;627;p9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628" name="Google Shape;628;p9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02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"/>
          <p:cNvSpPr/>
          <p:nvPr/>
        </p:nvSpPr>
        <p:spPr>
          <a:xfrm>
            <a:off x="1234440" y="1165860"/>
            <a:ext cx="301752" cy="301752"/>
          </a:xfrm>
          <a:custGeom>
            <a:rect b="b" l="l" r="r" t="t"/>
            <a:pathLst>
              <a:path extrusionOk="0" h="402336" w="402336">
                <a:moveTo>
                  <a:pt x="0" y="201168"/>
                </a:moveTo>
                <a:cubicBezTo>
                  <a:pt x="0" y="90043"/>
                  <a:pt x="90043" y="0"/>
                  <a:pt x="201168" y="0"/>
                </a:cubicBezTo>
                <a:cubicBezTo>
                  <a:pt x="312293" y="0"/>
                  <a:pt x="402336" y="90043"/>
                  <a:pt x="402336" y="201168"/>
                </a:cubicBezTo>
                <a:cubicBezTo>
                  <a:pt x="402336" y="312293"/>
                  <a:pt x="312293" y="402336"/>
                  <a:pt x="201168" y="402336"/>
                </a:cubicBezTo>
                <a:cubicBezTo>
                  <a:pt x="90043" y="402336"/>
                  <a:pt x="0" y="312293"/>
                  <a:pt x="0" y="201168"/>
                </a:cubicBezTo>
                <a:close/>
              </a:path>
            </a:pathLst>
          </a:cu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0"/>
          <p:cNvSpPr/>
          <p:nvPr/>
        </p:nvSpPr>
        <p:spPr>
          <a:xfrm>
            <a:off x="1714500" y="1165860"/>
            <a:ext cx="301752" cy="301752"/>
          </a:xfrm>
          <a:custGeom>
            <a:rect b="b" l="l" r="r" t="t"/>
            <a:pathLst>
              <a:path extrusionOk="0" h="402336" w="402336">
                <a:moveTo>
                  <a:pt x="0" y="201168"/>
                </a:moveTo>
                <a:cubicBezTo>
                  <a:pt x="0" y="90043"/>
                  <a:pt x="90043" y="0"/>
                  <a:pt x="201168" y="0"/>
                </a:cubicBezTo>
                <a:cubicBezTo>
                  <a:pt x="312293" y="0"/>
                  <a:pt x="402336" y="90043"/>
                  <a:pt x="402336" y="201168"/>
                </a:cubicBezTo>
                <a:cubicBezTo>
                  <a:pt x="402336" y="312293"/>
                  <a:pt x="312293" y="402336"/>
                  <a:pt x="201168" y="402336"/>
                </a:cubicBezTo>
                <a:cubicBezTo>
                  <a:pt x="90043" y="402336"/>
                  <a:pt x="0" y="312293"/>
                  <a:pt x="0" y="201168"/>
                </a:cubicBezTo>
                <a:close/>
              </a:path>
            </a:pathLst>
          </a:custGeom>
          <a:solidFill>
            <a:srgbClr val="F4A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0"/>
          <p:cNvSpPr/>
          <p:nvPr/>
        </p:nvSpPr>
        <p:spPr>
          <a:xfrm>
            <a:off x="2194560" y="1165860"/>
            <a:ext cx="301752" cy="301752"/>
          </a:xfrm>
          <a:custGeom>
            <a:rect b="b" l="l" r="r" t="t"/>
            <a:pathLst>
              <a:path extrusionOk="0" h="402336" w="402336">
                <a:moveTo>
                  <a:pt x="0" y="201168"/>
                </a:moveTo>
                <a:cubicBezTo>
                  <a:pt x="0" y="90043"/>
                  <a:pt x="90043" y="0"/>
                  <a:pt x="201168" y="0"/>
                </a:cubicBezTo>
                <a:cubicBezTo>
                  <a:pt x="312293" y="0"/>
                  <a:pt x="402336" y="90043"/>
                  <a:pt x="402336" y="201168"/>
                </a:cubicBezTo>
                <a:cubicBezTo>
                  <a:pt x="402336" y="312293"/>
                  <a:pt x="312293" y="402336"/>
                  <a:pt x="201168" y="402336"/>
                </a:cubicBezTo>
                <a:cubicBezTo>
                  <a:pt x="90043" y="402336"/>
                  <a:pt x="0" y="312293"/>
                  <a:pt x="0" y="201168"/>
                </a:cubicBezTo>
                <a:close/>
              </a:path>
            </a:pathLst>
          </a:cu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0" name="Google Shape;640;p10"/>
          <p:cNvGrpSpPr/>
          <p:nvPr/>
        </p:nvGrpSpPr>
        <p:grpSpPr>
          <a:xfrm>
            <a:off x="1234440" y="1913096"/>
            <a:ext cx="15087600" cy="967264"/>
            <a:chOff x="0" y="-9525"/>
            <a:chExt cx="20116800" cy="1289685"/>
          </a:xfrm>
        </p:grpSpPr>
        <p:sp>
          <p:nvSpPr>
            <p:cNvPr id="641" name="Google Shape;641;p10"/>
            <p:cNvSpPr/>
            <p:nvPr/>
          </p:nvSpPr>
          <p:spPr>
            <a:xfrm>
              <a:off x="0" y="0"/>
              <a:ext cx="20116800" cy="1280160"/>
            </a:xfrm>
            <a:custGeom>
              <a:rect b="b" l="l" r="r" t="t"/>
              <a:pathLst>
                <a:path extrusionOk="0"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6185" l="0" r="0" t="-256185"/>
              </a:stretch>
            </a:blipFill>
            <a:ln>
              <a:noFill/>
            </a:ln>
          </p:spPr>
        </p:sp>
        <p:sp>
          <p:nvSpPr>
            <p:cNvPr id="642" name="Google Shape;642;p10"/>
            <p:cNvSpPr txBox="1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Factibilidad y próximos pasos</a:t>
              </a:r>
              <a:endParaRPr/>
            </a:p>
          </p:txBody>
        </p:sp>
      </p:grpSp>
      <p:sp>
        <p:nvSpPr>
          <p:cNvPr id="643" name="Google Shape;643;p10"/>
          <p:cNvSpPr txBox="1"/>
          <p:nvPr/>
        </p:nvSpPr>
        <p:spPr>
          <a:xfrm>
            <a:off x="1234440" y="2981325"/>
            <a:ext cx="1549908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FE8DC"/>
                </a:solidFill>
                <a:latin typeface="Calibri"/>
                <a:ea typeface="Calibri"/>
                <a:cs typeface="Calibri"/>
                <a:sym typeface="Calibri"/>
              </a:rPr>
              <a:t>El proyecto es factible dentro del semestre gracias a un alcance controlado mediante MVP, tecnologías conocidas por el equipo y una planificación incremental que prioriza las funcionalidades críticas (autenticación, propiedades, filtros y semáforo de riesgo).</a:t>
            </a:r>
            <a:endParaRPr/>
          </a:p>
        </p:txBody>
      </p:sp>
      <p:sp>
        <p:nvSpPr>
          <p:cNvPr id="644" name="Google Shape;644;p10"/>
          <p:cNvSpPr/>
          <p:nvPr/>
        </p:nvSpPr>
        <p:spPr>
          <a:xfrm>
            <a:off x="1234440" y="4800600"/>
            <a:ext cx="7612380" cy="3154680"/>
          </a:xfrm>
          <a:custGeom>
            <a:rect b="b" l="l" r="r" t="t"/>
            <a:pathLst>
              <a:path extrusionOk="0" h="4206240" w="1014984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003536" y="0"/>
                </a:lnTo>
                <a:cubicBezTo>
                  <a:pt x="10084308" y="0"/>
                  <a:pt x="10149840" y="65532"/>
                  <a:pt x="10149840" y="146304"/>
                </a:cubicBezTo>
                <a:lnTo>
                  <a:pt x="10149840" y="4059936"/>
                </a:lnTo>
                <a:cubicBezTo>
                  <a:pt x="10149840" y="4140708"/>
                  <a:pt x="10084308" y="4206240"/>
                  <a:pt x="10003536" y="4206240"/>
                </a:cubicBezTo>
                <a:lnTo>
                  <a:pt x="146304" y="4206240"/>
                </a:lnTo>
                <a:cubicBezTo>
                  <a:pt x="65532" y="4206240"/>
                  <a:pt x="0" y="4140708"/>
                  <a:pt x="0" y="405993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5" name="Google Shape;645;p10"/>
          <p:cNvGrpSpPr/>
          <p:nvPr/>
        </p:nvGrpSpPr>
        <p:grpSpPr>
          <a:xfrm>
            <a:off x="1714500" y="5107781"/>
            <a:ext cx="6583680" cy="584359"/>
            <a:chOff x="0" y="-47625"/>
            <a:chExt cx="8778240" cy="779145"/>
          </a:xfrm>
        </p:grpSpPr>
        <p:sp>
          <p:nvSpPr>
            <p:cNvPr id="646" name="Google Shape;646;p10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647" name="Google Shape;647;p10"/>
            <p:cNvSpPr txBox="1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FASE 2</a:t>
              </a:r>
              <a:endParaRPr/>
            </a:p>
          </p:txBody>
        </p:sp>
      </p:grpSp>
      <p:sp>
        <p:nvSpPr>
          <p:cNvPr id="648" name="Google Shape;648;p10"/>
          <p:cNvSpPr txBox="1"/>
          <p:nvPr/>
        </p:nvSpPr>
        <p:spPr>
          <a:xfrm>
            <a:off x="1714500" y="5665470"/>
            <a:ext cx="6720840" cy="201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e integración de funcionalidades del MVP</a:t>
            </a:r>
            <a:endParaRPr/>
          </a:p>
        </p:txBody>
      </p:sp>
      <p:sp>
        <p:nvSpPr>
          <p:cNvPr id="649" name="Google Shape;649;p10"/>
          <p:cNvSpPr/>
          <p:nvPr/>
        </p:nvSpPr>
        <p:spPr>
          <a:xfrm>
            <a:off x="9258300" y="4800600"/>
            <a:ext cx="7612380" cy="3154680"/>
          </a:xfrm>
          <a:custGeom>
            <a:rect b="b" l="l" r="r" t="t"/>
            <a:pathLst>
              <a:path extrusionOk="0" h="4206240" w="1014984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003536" y="0"/>
                </a:lnTo>
                <a:cubicBezTo>
                  <a:pt x="10084308" y="0"/>
                  <a:pt x="10149840" y="65532"/>
                  <a:pt x="10149840" y="146304"/>
                </a:cubicBezTo>
                <a:lnTo>
                  <a:pt x="10149840" y="4059936"/>
                </a:lnTo>
                <a:cubicBezTo>
                  <a:pt x="10149840" y="4140708"/>
                  <a:pt x="10084308" y="4206240"/>
                  <a:pt x="10003536" y="4206240"/>
                </a:cubicBezTo>
                <a:lnTo>
                  <a:pt x="146304" y="4206240"/>
                </a:lnTo>
                <a:cubicBezTo>
                  <a:pt x="65532" y="4206240"/>
                  <a:pt x="0" y="4140708"/>
                  <a:pt x="0" y="4059936"/>
                </a:cubicBezTo>
                <a:close/>
              </a:path>
            </a:pathLst>
          </a:custGeom>
          <a:solidFill>
            <a:srgbClr val="1F3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10"/>
          <p:cNvGrpSpPr/>
          <p:nvPr/>
        </p:nvGrpSpPr>
        <p:grpSpPr>
          <a:xfrm>
            <a:off x="9738360" y="5107781"/>
            <a:ext cx="6583680" cy="584359"/>
            <a:chOff x="0" y="-47625"/>
            <a:chExt cx="8778240" cy="779145"/>
          </a:xfrm>
        </p:grpSpPr>
        <p:sp>
          <p:nvSpPr>
            <p:cNvPr id="651" name="Google Shape;651;p10"/>
            <p:cNvSpPr/>
            <p:nvPr/>
          </p:nvSpPr>
          <p:spPr>
            <a:xfrm>
              <a:off x="0" y="0"/>
              <a:ext cx="8778240" cy="731520"/>
            </a:xfrm>
            <a:custGeom>
              <a:rect b="b" l="l" r="r" t="t"/>
              <a:pathLst>
                <a:path extrusionOk="0"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652" name="Google Shape;652;p10"/>
            <p:cNvSpPr txBox="1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FASE 3</a:t>
              </a:r>
              <a:endParaRPr/>
            </a:p>
          </p:txBody>
        </p:sp>
      </p:grpSp>
      <p:sp>
        <p:nvSpPr>
          <p:cNvPr id="653" name="Google Shape;653;p10"/>
          <p:cNvSpPr txBox="1"/>
          <p:nvPr/>
        </p:nvSpPr>
        <p:spPr>
          <a:xfrm>
            <a:off x="9738360" y="5665470"/>
            <a:ext cx="6720840" cy="201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Testing, corrección de defectos y evaluación final de resultados</a:t>
            </a:r>
            <a:endParaRPr/>
          </a:p>
        </p:txBody>
      </p:sp>
      <p:grpSp>
        <p:nvGrpSpPr>
          <p:cNvPr id="654" name="Google Shape;654;p10"/>
          <p:cNvGrpSpPr/>
          <p:nvPr/>
        </p:nvGrpSpPr>
        <p:grpSpPr>
          <a:xfrm>
            <a:off x="1234440" y="8666798"/>
            <a:ext cx="10972800" cy="728663"/>
            <a:chOff x="0" y="-57150"/>
            <a:chExt cx="14630400" cy="971550"/>
          </a:xfrm>
        </p:grpSpPr>
        <p:sp>
          <p:nvSpPr>
            <p:cNvPr id="655" name="Google Shape;655;p10"/>
            <p:cNvSpPr/>
            <p:nvPr/>
          </p:nvSpPr>
          <p:spPr>
            <a:xfrm>
              <a:off x="0" y="0"/>
              <a:ext cx="14630400" cy="914400"/>
            </a:xfrm>
            <a:custGeom>
              <a:rect b="b" l="l" r="r" t="t"/>
              <a:pathLst>
                <a:path extrusionOk="0"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</p:sp>
        <p:sp>
          <p:nvSpPr>
            <p:cNvPr id="656" name="Google Shape;656;p10"/>
            <p:cNvSpPr txBox="1"/>
            <p:nvPr/>
          </p:nvSpPr>
          <p:spPr>
            <a:xfrm>
              <a:off x="0" y="-57150"/>
              <a:ext cx="14630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250" u="none" cap="none" strike="noStrike">
                  <a:solidFill>
                    <a:srgbClr val="52B788"/>
                  </a:solidFill>
                  <a:latin typeface="Calibri"/>
                  <a:ea typeface="Calibri"/>
                  <a:cs typeface="Calibri"/>
                  <a:sym typeface="Calibri"/>
                </a:rPr>
                <a:t>Gracias — Equipo HouseGreen</a:t>
              </a:r>
              <a:endParaRPr/>
            </a:p>
          </p:txBody>
        </p:sp>
      </p:grpSp>
      <p:grpSp>
        <p:nvGrpSpPr>
          <p:cNvPr id="657" name="Google Shape;657;p10"/>
          <p:cNvGrpSpPr/>
          <p:nvPr/>
        </p:nvGrpSpPr>
        <p:grpSpPr>
          <a:xfrm>
            <a:off x="17282160" y="9709785"/>
            <a:ext cx="685800" cy="440055"/>
            <a:chOff x="0" y="-38100"/>
            <a:chExt cx="914400" cy="586740"/>
          </a:xfrm>
        </p:grpSpPr>
        <p:sp>
          <p:nvSpPr>
            <p:cNvPr id="658" name="Google Shape;658;p10"/>
            <p:cNvSpPr/>
            <p:nvPr/>
          </p:nvSpPr>
          <p:spPr>
            <a:xfrm>
              <a:off x="0" y="0"/>
              <a:ext cx="914400" cy="548640"/>
            </a:xfrm>
            <a:custGeom>
              <a:rect b="b" l="l" r="r" t="t"/>
              <a:pathLst>
                <a:path extrusionOk="0"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6982" r="-26982" t="0"/>
              </a:stretch>
            </a:blipFill>
            <a:ln>
              <a:noFill/>
            </a:ln>
          </p:spPr>
        </p:sp>
        <p:sp>
          <p:nvSpPr>
            <p:cNvPr id="659" name="Google Shape;659;p10"/>
            <p:cNvSpPr txBox="1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5A6B65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